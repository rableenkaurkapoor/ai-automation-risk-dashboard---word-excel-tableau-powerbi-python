
<file path=[Content_Types].xml><?xml version="1.0" encoding="utf-8"?>
<Types xmlns="http://schemas.openxmlformats.org/package/2006/content-types">
  <Default Extension="jpeg" ContentType="image/jpeg"/>
  <Default Extension="jpg" ContentType="image/jpeg"/>
  <Default Extension="mp4" ContentType="video/mp4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78" r:id="rId5"/>
    <p:sldId id="260" r:id="rId6"/>
    <p:sldId id="279" r:id="rId7"/>
    <p:sldId id="262" r:id="rId8"/>
    <p:sldId id="263" r:id="rId9"/>
    <p:sldId id="264" r:id="rId10"/>
    <p:sldId id="280" r:id="rId11"/>
    <p:sldId id="267" r:id="rId12"/>
    <p:sldId id="268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DFFAFD"/>
    <a:srgbClr val="F4FEFE"/>
    <a:srgbClr val="ECFDFE"/>
    <a:srgbClr val="A7F9FB"/>
    <a:srgbClr val="9DF0F9"/>
    <a:srgbClr val="8AF7FA"/>
    <a:srgbClr val="FEE6F6"/>
    <a:srgbClr val="FDCFEE"/>
    <a:srgbClr val="FEECF8"/>
    <a:srgbClr val="9BF9F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>
        <p:scale>
          <a:sx n="76" d="100"/>
          <a:sy n="76" d="100"/>
        </p:scale>
        <p:origin x="216" y="1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rable\OneDrive\Desktop\Data%20Visualization%20Coursework\Final%20Project\Week%202%20inclass%20excel%20dashboard.xlsx" TargetMode="External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rable\OneDrive\Desktop\Data%20Visualization%20Coursework\Final%20Project\Week%202%20inclass%20excel%20dashboard.xlsx" TargetMode="External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8"/>
    </mc:Choice>
    <mc:Fallback>
      <c:style val="8"/>
    </mc:Fallback>
  </mc:AlternateContent>
  <c:pivotSource>
    <c:name>[Week 2 inclass excel dashboard.xlsx]Sheet1!PivotTable1</c:name>
    <c:fmtId val="20"/>
  </c:pivotSource>
  <c:chart>
    <c:autoTitleDeleted val="1"/>
    <c:pivotFmts>
      <c:pivotFmt>
        <c:idx val="0"/>
        <c:spPr>
          <a:solidFill>
            <a:schemeClr val="accent6"/>
          </a:solidFill>
          <a:ln>
            <a:noFill/>
          </a:ln>
          <a:effectLst>
            <a:outerShdw blurRad="63500" sx="102000" sy="102000" algn="ctr" rotWithShape="0">
              <a:prstClr val="black">
                <a:alpha val="20000"/>
              </a:prstClr>
            </a:outerShdw>
          </a:effectLst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1000" b="1" i="0" u="none" strike="noStrike" kern="1200" spc="0" baseline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outEnd"/>
          <c:showLegendKey val="0"/>
          <c:showVal val="0"/>
          <c:showCatName val="1"/>
          <c:showSerName val="0"/>
          <c:showPercent val="1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spPr>
          <a:solidFill>
            <a:schemeClr val="accent6">
              <a:shade val="53000"/>
            </a:schemeClr>
          </a:solidFill>
          <a:ln>
            <a:noFill/>
          </a:ln>
          <a:effectLst>
            <a:outerShdw blurRad="63500" sx="102000" sy="102000" algn="ctr" rotWithShape="0">
              <a:prstClr val="black">
                <a:alpha val="20000"/>
              </a:prstClr>
            </a:outerShdw>
          </a:effectLst>
        </c:spPr>
        <c:dLbl>
          <c:idx val="0"/>
          <c:layout>
            <c:manualLayout>
              <c:x val="0.15277387044701457"/>
              <c:y val="0.18161088670132575"/>
            </c:manualLayout>
          </c:layout>
          <c:tx>
            <c:rich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000" b="1" i="0" u="none" strike="noStrike" kern="1200" spc="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  <a:fld id="{4010A8B6-6CEC-4138-BCB1-CAC599DA795A}" type="CATEGORYNAME">
                  <a:rPr lang="en-US">
                    <a:solidFill>
                      <a:schemeClr val="tx1"/>
                    </a:solidFill>
                  </a:rPr>
                  <a:pPr>
                    <a:defRPr sz="1000" b="1" i="0" u="none" strike="noStrike" kern="1200" spc="0" baseline="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pPr>
                  <a:t>[CATEGORY NAME]</a:t>
                </a:fld>
                <a:r>
                  <a:rPr lang="en-US" baseline="0">
                    <a:solidFill>
                      <a:schemeClr val="tx1"/>
                    </a:solidFill>
                  </a:rPr>
                  <a:t>
</a:t>
                </a:r>
                <a:r>
                  <a:rPr lang="en-US" sz="1000" b="1" i="0" u="none" strike="noStrike" baseline="0"/>
                  <a:t>20.03%</a:t>
                </a:r>
              </a:p>
            </c:rich>
          </c:tx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1000" b="1" i="0" u="none" strike="noStrike" kern="1200" spc="0" baseline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bestFit"/>
          <c:showLegendKey val="0"/>
          <c:showVal val="0"/>
          <c:showCatName val="1"/>
          <c:showSerName val="0"/>
          <c:showPercent val="1"/>
          <c:showBubbleSize val="0"/>
          <c:extLst>
            <c:ext xmlns:c15="http://schemas.microsoft.com/office/drawing/2012/chart" uri="{CE6537A1-D6FC-4f65-9D91-7224C49458BB}">
              <c15:dlblFieldTable/>
              <c15:showDataLabelsRange val="0"/>
            </c:ext>
          </c:extLst>
        </c:dLbl>
      </c:pivotFmt>
      <c:pivotFmt>
        <c:idx val="2"/>
        <c:spPr>
          <a:solidFill>
            <a:schemeClr val="accent6">
              <a:tint val="54000"/>
            </a:schemeClr>
          </a:solidFill>
          <a:ln>
            <a:noFill/>
          </a:ln>
          <a:effectLst>
            <a:outerShdw blurRad="63500" sx="102000" sy="102000" algn="ctr" rotWithShape="0">
              <a:prstClr val="black">
                <a:alpha val="20000"/>
              </a:prstClr>
            </a:outerShdw>
          </a:effectLst>
        </c:spPr>
        <c:dLbl>
          <c:idx val="0"/>
          <c:layout>
            <c:manualLayout>
              <c:x val="-0.10284407155060486"/>
              <c:y val="0.18620684414058852"/>
            </c:manualLayout>
          </c:layout>
          <c:tx>
            <c:rich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000" b="1" i="0" u="none" strike="noStrike" kern="1200" spc="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  <a:fld id="{C0B47AE1-A681-4264-8A3D-82F7FDCCBA28}" type="CATEGORYNAME">
                  <a:rPr lang="en-US">
                    <a:solidFill>
                      <a:schemeClr val="tx1"/>
                    </a:solidFill>
                  </a:rPr>
                  <a:pPr>
                    <a:defRPr sz="1000" b="1" i="0" u="none" strike="noStrike" kern="1200" spc="0" baseline="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pPr>
                  <a:t>[CATEGORY NAME]</a:t>
                </a:fld>
                <a:r>
                  <a:rPr lang="en-US" baseline="0">
                    <a:solidFill>
                      <a:schemeClr val="tx1"/>
                    </a:solidFill>
                  </a:rPr>
                  <a:t>
</a:t>
                </a:r>
                <a:r>
                  <a:rPr lang="en-US" sz="1000" b="1" i="0" u="none" strike="noStrike" baseline="0"/>
                  <a:t>19.79%</a:t>
                </a:r>
              </a:p>
            </c:rich>
          </c:tx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1000" b="1" i="0" u="none" strike="noStrike" kern="1200" spc="0" baseline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bestFit"/>
          <c:showLegendKey val="0"/>
          <c:showVal val="0"/>
          <c:showCatName val="1"/>
          <c:showSerName val="0"/>
          <c:showPercent val="1"/>
          <c:showBubbleSize val="0"/>
          <c:extLst>
            <c:ext xmlns:c15="http://schemas.microsoft.com/office/drawing/2012/chart" uri="{CE6537A1-D6FC-4f65-9D91-7224C49458BB}">
              <c15:dlblFieldTable/>
              <c15:showDataLabelsRange val="0"/>
            </c:ext>
          </c:extLst>
        </c:dLbl>
      </c:pivotFmt>
      <c:pivotFmt>
        <c:idx val="3"/>
        <c:spPr>
          <a:solidFill>
            <a:schemeClr val="accent6">
              <a:shade val="76000"/>
            </a:schemeClr>
          </a:solidFill>
          <a:ln>
            <a:noFill/>
          </a:ln>
          <a:effectLst>
            <a:outerShdw blurRad="63500" sx="102000" sy="102000" algn="ctr" rotWithShape="0">
              <a:prstClr val="black">
                <a:alpha val="20000"/>
              </a:prstClr>
            </a:outerShdw>
          </a:effectLst>
        </c:spPr>
        <c:dLbl>
          <c:idx val="0"/>
          <c:layout>
            <c:manualLayout>
              <c:x val="0.1722247447222684"/>
              <c:y val="-7.4375619278123459E-2"/>
            </c:manualLayout>
          </c:layout>
          <c:tx>
            <c:rich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000" b="1" i="0" u="none" strike="noStrike" kern="1200" spc="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  <a:fld id="{D627FE87-42C2-416B-B6B8-730721C04DB9}" type="CATEGORYNAME">
                  <a:rPr lang="en-US">
                    <a:solidFill>
                      <a:schemeClr val="tx1"/>
                    </a:solidFill>
                  </a:rPr>
                  <a:pPr>
                    <a:defRPr sz="1000" b="1" i="0" u="none" strike="noStrike" kern="1200" spc="0" baseline="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pPr>
                  <a:t>[CATEGORY NAME]</a:t>
                </a:fld>
                <a:r>
                  <a:rPr lang="en-US" baseline="0">
                    <a:solidFill>
                      <a:schemeClr val="tx1"/>
                    </a:solidFill>
                  </a:rPr>
                  <a:t>
</a:t>
                </a:r>
                <a:r>
                  <a:rPr lang="en-US" sz="1000" b="1" i="0" u="none" strike="noStrike" baseline="0"/>
                  <a:t>19.99%</a:t>
                </a:r>
              </a:p>
            </c:rich>
          </c:tx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1000" b="1" i="0" u="none" strike="noStrike" kern="1200" spc="0" baseline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bestFit"/>
          <c:showLegendKey val="0"/>
          <c:showVal val="0"/>
          <c:showCatName val="1"/>
          <c:showSerName val="0"/>
          <c:showPercent val="1"/>
          <c:showBubbleSize val="0"/>
          <c:extLst>
            <c:ext xmlns:c15="http://schemas.microsoft.com/office/drawing/2012/chart" uri="{CE6537A1-D6FC-4f65-9D91-7224C49458BB}">
              <c15:dlblFieldTable/>
              <c15:showDataLabelsRange val="0"/>
            </c:ext>
          </c:extLst>
        </c:dLbl>
      </c:pivotFmt>
      <c:pivotFmt>
        <c:idx val="4"/>
        <c:spPr>
          <a:solidFill>
            <a:schemeClr val="accent6"/>
          </a:solidFill>
          <a:ln>
            <a:noFill/>
          </a:ln>
          <a:effectLst>
            <a:outerShdw blurRad="63500" sx="102000" sy="102000" algn="ctr" rotWithShape="0">
              <a:prstClr val="black">
                <a:alpha val="20000"/>
              </a:prstClr>
            </a:outerShdw>
          </a:effectLst>
        </c:spPr>
        <c:dLbl>
          <c:idx val="0"/>
          <c:layout>
            <c:manualLayout>
              <c:x val="2.7823102814630266E-3"/>
              <c:y val="-0.18635956020668049"/>
            </c:manualLayout>
          </c:layout>
          <c:tx>
            <c:rich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000" b="1" i="0" u="none" strike="noStrike" kern="1200" spc="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  <a:fld id="{BF99E4E8-DB94-472A-9A30-50C6F0D20EB7}" type="CATEGORYNAME">
                  <a:rPr lang="en-US">
                    <a:solidFill>
                      <a:schemeClr val="tx1"/>
                    </a:solidFill>
                  </a:rPr>
                  <a:pPr>
                    <a:defRPr sz="1000" b="1" i="0" u="none" strike="noStrike" kern="1200" spc="0" baseline="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pPr>
                  <a:t>[CATEGORY NAME]</a:t>
                </a:fld>
                <a:r>
                  <a:rPr lang="en-US" baseline="0">
                    <a:solidFill>
                      <a:schemeClr val="tx1"/>
                    </a:solidFill>
                  </a:rPr>
                  <a:t>
</a:t>
                </a:r>
                <a:r>
                  <a:rPr lang="en-US" sz="1000" b="1" i="0" u="none" strike="noStrike" baseline="0"/>
                  <a:t>19.74%</a:t>
                </a:r>
              </a:p>
            </c:rich>
          </c:tx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1000" b="1" i="0" u="none" strike="noStrike" kern="1200" spc="0" baseline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bestFit"/>
          <c:showLegendKey val="0"/>
          <c:showVal val="0"/>
          <c:showCatName val="1"/>
          <c:showSerName val="0"/>
          <c:showPercent val="1"/>
          <c:showBubbleSize val="0"/>
          <c:extLst>
            <c:ext xmlns:c15="http://schemas.microsoft.com/office/drawing/2012/chart" uri="{CE6537A1-D6FC-4f65-9D91-7224C49458BB}">
              <c15:dlblFieldTable/>
              <c15:showDataLabelsRange val="0"/>
            </c:ext>
          </c:extLst>
        </c:dLbl>
      </c:pivotFmt>
      <c:pivotFmt>
        <c:idx val="5"/>
        <c:spPr>
          <a:solidFill>
            <a:schemeClr val="accent6">
              <a:tint val="77000"/>
            </a:schemeClr>
          </a:solidFill>
          <a:ln>
            <a:noFill/>
          </a:ln>
          <a:effectLst>
            <a:outerShdw blurRad="63500" sx="102000" sy="102000" algn="ctr" rotWithShape="0">
              <a:prstClr val="black">
                <a:alpha val="20000"/>
              </a:prstClr>
            </a:outerShdw>
          </a:effectLst>
        </c:spPr>
        <c:dLbl>
          <c:idx val="0"/>
          <c:layout>
            <c:manualLayout>
              <c:x val="-0.15278651929450834"/>
              <c:y val="-7.4452339197582026E-2"/>
            </c:manualLayout>
          </c:layout>
          <c:tx>
            <c:rich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000" b="1" i="0" u="none" strike="noStrike" kern="1200" spc="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  <a:fld id="{038B314E-6545-49FD-BEC1-95290A396819}" type="CATEGORYNAME">
                  <a:rPr lang="en-US">
                    <a:solidFill>
                      <a:schemeClr val="tx1"/>
                    </a:solidFill>
                  </a:rPr>
                  <a:pPr>
                    <a:defRPr sz="1000" b="1" i="0" u="none" strike="noStrike" kern="1200" spc="0" baseline="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pPr>
                  <a:t>[CATEGORY NAME]</a:t>
                </a:fld>
                <a:r>
                  <a:rPr lang="en-US" baseline="0">
                    <a:solidFill>
                      <a:schemeClr val="tx1"/>
                    </a:solidFill>
                  </a:rPr>
                  <a:t>
</a:t>
                </a:r>
                <a:r>
                  <a:rPr lang="en-US" sz="1000" b="1" i="0" u="none" strike="noStrike" baseline="0"/>
                  <a:t>20.45%</a:t>
                </a:r>
              </a:p>
            </c:rich>
          </c:tx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1000" b="1" i="0" u="none" strike="noStrike" kern="1200" spc="0" baseline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bestFit"/>
          <c:showLegendKey val="0"/>
          <c:showVal val="0"/>
          <c:showCatName val="1"/>
          <c:showSerName val="0"/>
          <c:showPercent val="1"/>
          <c:showBubbleSize val="0"/>
          <c:extLst>
            <c:ext xmlns:c15="http://schemas.microsoft.com/office/drawing/2012/chart" uri="{CE6537A1-D6FC-4f65-9D91-7224C49458BB}">
              <c15:dlblFieldTable/>
              <c15:showDataLabelsRange val="0"/>
            </c:ext>
          </c:extLst>
        </c:dLbl>
      </c:pivotFmt>
      <c:pivotFmt>
        <c:idx val="6"/>
        <c:spPr>
          <a:solidFill>
            <a:schemeClr val="accent6"/>
          </a:solidFill>
          <a:ln>
            <a:noFill/>
          </a:ln>
          <a:effectLst>
            <a:outerShdw blurRad="63500" sx="102000" sy="102000" algn="ctr" rotWithShape="0">
              <a:prstClr val="black">
                <a:alpha val="20000"/>
              </a:prstClr>
            </a:outerShdw>
          </a:effectLst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1000" b="1" i="0" u="none" strike="noStrike" kern="1200" spc="0" baseline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outEnd"/>
          <c:showLegendKey val="0"/>
          <c:showVal val="0"/>
          <c:showCatName val="1"/>
          <c:showSerName val="0"/>
          <c:showPercent val="1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7"/>
        <c:spPr>
          <a:solidFill>
            <a:schemeClr val="accent6">
              <a:tint val="54000"/>
            </a:schemeClr>
          </a:solidFill>
          <a:ln>
            <a:noFill/>
          </a:ln>
          <a:effectLst>
            <a:outerShdw blurRad="63500" sx="102000" sy="102000" algn="ctr" rotWithShape="0">
              <a:prstClr val="black">
                <a:alpha val="20000"/>
              </a:prstClr>
            </a:outerShdw>
          </a:effectLst>
        </c:spPr>
        <c:dLbl>
          <c:idx val="0"/>
          <c:layout>
            <c:manualLayout>
              <c:x val="-0.10284407155060486"/>
              <c:y val="0.18620684414058852"/>
            </c:manualLayout>
          </c:layout>
          <c:tx>
            <c:rich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000" b="1" i="0" u="none" strike="noStrike" kern="1200" spc="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  <a:fld id="{C0B47AE1-A681-4264-8A3D-82F7FDCCBA28}" type="CATEGORYNAME">
                  <a:rPr lang="en-US">
                    <a:solidFill>
                      <a:schemeClr val="tx1"/>
                    </a:solidFill>
                  </a:rPr>
                  <a:pPr>
                    <a:defRPr sz="1000" b="1" i="0" u="none" strike="noStrike" kern="1200" spc="0" baseline="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pPr>
                  <a:t>[CATEGORY NAME]</a:t>
                </a:fld>
                <a:r>
                  <a:rPr lang="en-US" baseline="0">
                    <a:solidFill>
                      <a:schemeClr val="tx1"/>
                    </a:solidFill>
                  </a:rPr>
                  <a:t>
</a:t>
                </a:r>
                <a:r>
                  <a:rPr lang="en-US" sz="1000" b="1" i="0" u="none" strike="noStrike" baseline="0"/>
                  <a:t>19.79%</a:t>
                </a:r>
              </a:p>
            </c:rich>
          </c:tx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1000" b="1" i="0" u="none" strike="noStrike" kern="1200" spc="0" baseline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bestFit"/>
          <c:showLegendKey val="0"/>
          <c:showVal val="0"/>
          <c:showCatName val="1"/>
          <c:showSerName val="0"/>
          <c:showPercent val="1"/>
          <c:showBubbleSize val="0"/>
          <c:extLst>
            <c:ext xmlns:c15="http://schemas.microsoft.com/office/drawing/2012/chart" uri="{CE6537A1-D6FC-4f65-9D91-7224C49458BB}">
              <c15:dlblFieldTable/>
              <c15:showDataLabelsRange val="0"/>
            </c:ext>
          </c:extLst>
        </c:dLbl>
      </c:pivotFmt>
      <c:pivotFmt>
        <c:idx val="8"/>
        <c:spPr>
          <a:solidFill>
            <a:schemeClr val="accent6">
              <a:tint val="77000"/>
            </a:schemeClr>
          </a:solidFill>
          <a:ln>
            <a:noFill/>
          </a:ln>
          <a:effectLst>
            <a:outerShdw blurRad="63500" sx="102000" sy="102000" algn="ctr" rotWithShape="0">
              <a:prstClr val="black">
                <a:alpha val="20000"/>
              </a:prstClr>
            </a:outerShdw>
          </a:effectLst>
        </c:spPr>
        <c:dLbl>
          <c:idx val="0"/>
          <c:layout>
            <c:manualLayout>
              <c:x val="-0.15278651929450834"/>
              <c:y val="-7.4452339197582026E-2"/>
            </c:manualLayout>
          </c:layout>
          <c:tx>
            <c:rich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000" b="1" i="0" u="none" strike="noStrike" kern="1200" spc="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  <a:fld id="{038B314E-6545-49FD-BEC1-95290A396819}" type="CATEGORYNAME">
                  <a:rPr lang="en-US">
                    <a:solidFill>
                      <a:schemeClr val="tx1"/>
                    </a:solidFill>
                  </a:rPr>
                  <a:pPr>
                    <a:defRPr sz="1000" b="1" i="0" u="none" strike="noStrike" kern="1200" spc="0" baseline="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pPr>
                  <a:t>[CATEGORY NAME]</a:t>
                </a:fld>
                <a:r>
                  <a:rPr lang="en-US" baseline="0">
                    <a:solidFill>
                      <a:schemeClr val="tx1"/>
                    </a:solidFill>
                  </a:rPr>
                  <a:t>
</a:t>
                </a:r>
                <a:r>
                  <a:rPr lang="en-US" sz="1000" b="1" i="0" u="none" strike="noStrike" baseline="0"/>
                  <a:t>20.45%</a:t>
                </a:r>
              </a:p>
            </c:rich>
          </c:tx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1000" b="1" i="0" u="none" strike="noStrike" kern="1200" spc="0" baseline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bestFit"/>
          <c:showLegendKey val="0"/>
          <c:showVal val="0"/>
          <c:showCatName val="1"/>
          <c:showSerName val="0"/>
          <c:showPercent val="1"/>
          <c:showBubbleSize val="0"/>
          <c:extLst>
            <c:ext xmlns:c15="http://schemas.microsoft.com/office/drawing/2012/chart" uri="{CE6537A1-D6FC-4f65-9D91-7224C49458BB}">
              <c15:dlblFieldTable/>
              <c15:showDataLabelsRange val="0"/>
            </c:ext>
          </c:extLst>
        </c:dLbl>
      </c:pivotFmt>
      <c:pivotFmt>
        <c:idx val="9"/>
        <c:spPr>
          <a:solidFill>
            <a:schemeClr val="accent6"/>
          </a:solidFill>
          <a:ln>
            <a:noFill/>
          </a:ln>
          <a:effectLst>
            <a:outerShdw blurRad="63500" sx="102000" sy="102000" algn="ctr" rotWithShape="0">
              <a:prstClr val="black">
                <a:alpha val="20000"/>
              </a:prstClr>
            </a:outerShdw>
          </a:effectLst>
        </c:spPr>
        <c:dLbl>
          <c:idx val="0"/>
          <c:layout>
            <c:manualLayout>
              <c:x val="2.7823102814630266E-3"/>
              <c:y val="-0.18635956020668049"/>
            </c:manualLayout>
          </c:layout>
          <c:tx>
            <c:rich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000" b="1" i="0" u="none" strike="noStrike" kern="1200" spc="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  <a:fld id="{BF99E4E8-DB94-472A-9A30-50C6F0D20EB7}" type="CATEGORYNAME">
                  <a:rPr lang="en-US">
                    <a:solidFill>
                      <a:schemeClr val="tx1"/>
                    </a:solidFill>
                  </a:rPr>
                  <a:pPr>
                    <a:defRPr sz="1000" b="1" i="0" u="none" strike="noStrike" kern="1200" spc="0" baseline="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pPr>
                  <a:t>[CATEGORY NAME]</a:t>
                </a:fld>
                <a:r>
                  <a:rPr lang="en-US" baseline="0">
                    <a:solidFill>
                      <a:schemeClr val="tx1"/>
                    </a:solidFill>
                  </a:rPr>
                  <a:t>
</a:t>
                </a:r>
                <a:r>
                  <a:rPr lang="en-US" sz="1000" b="1" i="0" u="none" strike="noStrike" baseline="0"/>
                  <a:t>19.74%</a:t>
                </a:r>
              </a:p>
            </c:rich>
          </c:tx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1000" b="1" i="0" u="none" strike="noStrike" kern="1200" spc="0" baseline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bestFit"/>
          <c:showLegendKey val="0"/>
          <c:showVal val="0"/>
          <c:showCatName val="1"/>
          <c:showSerName val="0"/>
          <c:showPercent val="1"/>
          <c:showBubbleSize val="0"/>
          <c:extLst>
            <c:ext xmlns:c15="http://schemas.microsoft.com/office/drawing/2012/chart" uri="{CE6537A1-D6FC-4f65-9D91-7224C49458BB}">
              <c15:dlblFieldTable/>
              <c15:showDataLabelsRange val="0"/>
            </c:ext>
          </c:extLst>
        </c:dLbl>
      </c:pivotFmt>
      <c:pivotFmt>
        <c:idx val="10"/>
        <c:spPr>
          <a:solidFill>
            <a:schemeClr val="accent6">
              <a:shade val="76000"/>
            </a:schemeClr>
          </a:solidFill>
          <a:ln>
            <a:noFill/>
          </a:ln>
          <a:effectLst>
            <a:outerShdw blurRad="63500" sx="102000" sy="102000" algn="ctr" rotWithShape="0">
              <a:prstClr val="black">
                <a:alpha val="20000"/>
              </a:prstClr>
            </a:outerShdw>
          </a:effectLst>
        </c:spPr>
        <c:dLbl>
          <c:idx val="0"/>
          <c:layout>
            <c:manualLayout>
              <c:x val="0.1722247447222684"/>
              <c:y val="-7.4375619278123459E-2"/>
            </c:manualLayout>
          </c:layout>
          <c:tx>
            <c:rich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000" b="1" i="0" u="none" strike="noStrike" kern="1200" spc="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  <a:fld id="{D627FE87-42C2-416B-B6B8-730721C04DB9}" type="CATEGORYNAME">
                  <a:rPr lang="en-US">
                    <a:solidFill>
                      <a:schemeClr val="tx1"/>
                    </a:solidFill>
                  </a:rPr>
                  <a:pPr>
                    <a:defRPr sz="1000" b="1" i="0" u="none" strike="noStrike" kern="1200" spc="0" baseline="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pPr>
                  <a:t>[CATEGORY NAME]</a:t>
                </a:fld>
                <a:r>
                  <a:rPr lang="en-US" baseline="0">
                    <a:solidFill>
                      <a:schemeClr val="tx1"/>
                    </a:solidFill>
                  </a:rPr>
                  <a:t>
</a:t>
                </a:r>
                <a:r>
                  <a:rPr lang="en-US" sz="1000" b="1" i="0" u="none" strike="noStrike" baseline="0"/>
                  <a:t>19.99%</a:t>
                </a:r>
              </a:p>
            </c:rich>
          </c:tx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1000" b="1" i="0" u="none" strike="noStrike" kern="1200" spc="0" baseline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bestFit"/>
          <c:showLegendKey val="0"/>
          <c:showVal val="0"/>
          <c:showCatName val="1"/>
          <c:showSerName val="0"/>
          <c:showPercent val="1"/>
          <c:showBubbleSize val="0"/>
          <c:extLst>
            <c:ext xmlns:c15="http://schemas.microsoft.com/office/drawing/2012/chart" uri="{CE6537A1-D6FC-4f65-9D91-7224C49458BB}">
              <c15:dlblFieldTable/>
              <c15:showDataLabelsRange val="0"/>
            </c:ext>
          </c:extLst>
        </c:dLbl>
      </c:pivotFmt>
      <c:pivotFmt>
        <c:idx val="11"/>
        <c:spPr>
          <a:solidFill>
            <a:schemeClr val="accent6">
              <a:shade val="53000"/>
            </a:schemeClr>
          </a:solidFill>
          <a:ln>
            <a:noFill/>
          </a:ln>
          <a:effectLst>
            <a:outerShdw blurRad="63500" sx="102000" sy="102000" algn="ctr" rotWithShape="0">
              <a:prstClr val="black">
                <a:alpha val="20000"/>
              </a:prstClr>
            </a:outerShdw>
          </a:effectLst>
        </c:spPr>
        <c:dLbl>
          <c:idx val="0"/>
          <c:layout>
            <c:manualLayout>
              <c:x val="0.15277387044701457"/>
              <c:y val="0.18161088670132575"/>
            </c:manualLayout>
          </c:layout>
          <c:tx>
            <c:rich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000" b="1" i="0" u="none" strike="noStrike" kern="1200" spc="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  <a:fld id="{4010A8B6-6CEC-4138-BCB1-CAC599DA795A}" type="CATEGORYNAME">
                  <a:rPr lang="en-US">
                    <a:solidFill>
                      <a:schemeClr val="tx1"/>
                    </a:solidFill>
                  </a:rPr>
                  <a:pPr>
                    <a:defRPr sz="1000" b="1" i="0" u="none" strike="noStrike" kern="1200" spc="0" baseline="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pPr>
                  <a:t>[CATEGORY NAME]</a:t>
                </a:fld>
                <a:r>
                  <a:rPr lang="en-US" baseline="0">
                    <a:solidFill>
                      <a:schemeClr val="tx1"/>
                    </a:solidFill>
                  </a:rPr>
                  <a:t>
</a:t>
                </a:r>
                <a:r>
                  <a:rPr lang="en-US" sz="1000" b="1" i="0" u="none" strike="noStrike" baseline="0"/>
                  <a:t>20.03%</a:t>
                </a:r>
              </a:p>
            </c:rich>
          </c:tx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1000" b="1" i="0" u="none" strike="noStrike" kern="1200" spc="0" baseline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bestFit"/>
          <c:showLegendKey val="0"/>
          <c:showVal val="0"/>
          <c:showCatName val="1"/>
          <c:showSerName val="0"/>
          <c:showPercent val="1"/>
          <c:showBubbleSize val="0"/>
          <c:extLst>
            <c:ext xmlns:c15="http://schemas.microsoft.com/office/drawing/2012/chart" uri="{CE6537A1-D6FC-4f65-9D91-7224C49458BB}">
              <c15:dlblFieldTable/>
              <c15:showDataLabelsRange val="0"/>
            </c:ext>
          </c:extLst>
        </c:dLbl>
      </c:pivotFmt>
      <c:pivotFmt>
        <c:idx val="12"/>
        <c:spPr>
          <a:solidFill>
            <a:schemeClr val="accent6"/>
          </a:solidFill>
          <a:ln>
            <a:noFill/>
          </a:ln>
          <a:effectLst>
            <a:outerShdw blurRad="63500" sx="102000" sy="102000" algn="ctr" rotWithShape="0">
              <a:prstClr val="black">
                <a:alpha val="20000"/>
              </a:prstClr>
            </a:outerShdw>
          </a:effectLst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1000" b="1" i="0" u="none" strike="noStrike" kern="1200" spc="0" baseline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outEnd"/>
          <c:showLegendKey val="0"/>
          <c:showVal val="0"/>
          <c:showCatName val="1"/>
          <c:showSerName val="0"/>
          <c:showPercent val="1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3"/>
        <c:spPr>
          <a:solidFill>
            <a:schemeClr val="accent6">
              <a:tint val="54000"/>
            </a:schemeClr>
          </a:solidFill>
          <a:ln>
            <a:noFill/>
          </a:ln>
          <a:effectLst>
            <a:outerShdw blurRad="63500" sx="102000" sy="102000" algn="ctr" rotWithShape="0">
              <a:prstClr val="black">
                <a:alpha val="20000"/>
              </a:prstClr>
            </a:outerShdw>
          </a:effectLst>
        </c:spPr>
        <c:dLbl>
          <c:idx val="0"/>
          <c:layout>
            <c:manualLayout>
              <c:x val="-0.10284407155060486"/>
              <c:y val="0.18620684414058852"/>
            </c:manualLayout>
          </c:layout>
          <c:tx>
            <c:rich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000" b="1" i="0" u="none" strike="noStrike" kern="1200" spc="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  <a:fld id="{C0B47AE1-A681-4264-8A3D-82F7FDCCBA28}" type="CATEGORYNAME">
                  <a:rPr lang="en-US">
                    <a:solidFill>
                      <a:schemeClr val="tx1"/>
                    </a:solidFill>
                  </a:rPr>
                  <a:pPr>
                    <a:defRPr sz="1000" b="1" i="0" u="none" strike="noStrike" kern="1200" spc="0" baseline="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pPr>
                  <a:t>[CATEGORY NAME]</a:t>
                </a:fld>
                <a:r>
                  <a:rPr lang="en-US" baseline="0">
                    <a:solidFill>
                      <a:schemeClr val="tx1"/>
                    </a:solidFill>
                  </a:rPr>
                  <a:t>
</a:t>
                </a:r>
                <a:r>
                  <a:rPr lang="en-US" sz="1000" b="1" i="0" u="none" strike="noStrike" baseline="0"/>
                  <a:t>19.79%</a:t>
                </a:r>
              </a:p>
            </c:rich>
          </c:tx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1000" b="1" i="0" u="none" strike="noStrike" kern="1200" spc="0" baseline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bestFit"/>
          <c:showLegendKey val="0"/>
          <c:showVal val="0"/>
          <c:showCatName val="1"/>
          <c:showSerName val="0"/>
          <c:showPercent val="1"/>
          <c:showBubbleSize val="0"/>
          <c:extLst>
            <c:ext xmlns:c15="http://schemas.microsoft.com/office/drawing/2012/chart" uri="{CE6537A1-D6FC-4f65-9D91-7224C49458BB}">
              <c15:dlblFieldTable/>
              <c15:showDataLabelsRange val="0"/>
            </c:ext>
          </c:extLst>
        </c:dLbl>
      </c:pivotFmt>
      <c:pivotFmt>
        <c:idx val="14"/>
        <c:spPr>
          <a:solidFill>
            <a:schemeClr val="accent6">
              <a:tint val="77000"/>
            </a:schemeClr>
          </a:solidFill>
          <a:ln>
            <a:noFill/>
          </a:ln>
          <a:effectLst>
            <a:outerShdw blurRad="63500" sx="102000" sy="102000" algn="ctr" rotWithShape="0">
              <a:prstClr val="black">
                <a:alpha val="20000"/>
              </a:prstClr>
            </a:outerShdw>
          </a:effectLst>
        </c:spPr>
        <c:dLbl>
          <c:idx val="0"/>
          <c:layout>
            <c:manualLayout>
              <c:x val="-0.15278651929450834"/>
              <c:y val="-7.4452339197582026E-2"/>
            </c:manualLayout>
          </c:layout>
          <c:tx>
            <c:rich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000" b="1" i="0" u="none" strike="noStrike" kern="1200" spc="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  <a:fld id="{038B314E-6545-49FD-BEC1-95290A396819}" type="CATEGORYNAME">
                  <a:rPr lang="en-US">
                    <a:solidFill>
                      <a:schemeClr val="tx1"/>
                    </a:solidFill>
                  </a:rPr>
                  <a:pPr>
                    <a:defRPr sz="1000" b="1" i="0" u="none" strike="noStrike" kern="1200" spc="0" baseline="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pPr>
                  <a:t>[CATEGORY NAME]</a:t>
                </a:fld>
                <a:r>
                  <a:rPr lang="en-US" baseline="0">
                    <a:solidFill>
                      <a:schemeClr val="tx1"/>
                    </a:solidFill>
                  </a:rPr>
                  <a:t>
</a:t>
                </a:r>
                <a:r>
                  <a:rPr lang="en-US" sz="1000" b="1" i="0" u="none" strike="noStrike" baseline="0"/>
                  <a:t>20.45%</a:t>
                </a:r>
              </a:p>
            </c:rich>
          </c:tx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1000" b="1" i="0" u="none" strike="noStrike" kern="1200" spc="0" baseline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bestFit"/>
          <c:showLegendKey val="0"/>
          <c:showVal val="0"/>
          <c:showCatName val="1"/>
          <c:showSerName val="0"/>
          <c:showPercent val="1"/>
          <c:showBubbleSize val="0"/>
          <c:extLst>
            <c:ext xmlns:c15="http://schemas.microsoft.com/office/drawing/2012/chart" uri="{CE6537A1-D6FC-4f65-9D91-7224C49458BB}">
              <c15:dlblFieldTable/>
              <c15:showDataLabelsRange val="0"/>
            </c:ext>
          </c:extLst>
        </c:dLbl>
      </c:pivotFmt>
      <c:pivotFmt>
        <c:idx val="15"/>
        <c:spPr>
          <a:solidFill>
            <a:schemeClr val="accent6"/>
          </a:solidFill>
          <a:ln>
            <a:noFill/>
          </a:ln>
          <a:effectLst>
            <a:outerShdw blurRad="63500" sx="102000" sy="102000" algn="ctr" rotWithShape="0">
              <a:prstClr val="black">
                <a:alpha val="20000"/>
              </a:prstClr>
            </a:outerShdw>
          </a:effectLst>
        </c:spPr>
        <c:dLbl>
          <c:idx val="0"/>
          <c:layout>
            <c:manualLayout>
              <c:x val="2.7823102814630266E-3"/>
              <c:y val="-0.18635956020668049"/>
            </c:manualLayout>
          </c:layout>
          <c:tx>
            <c:rich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000" b="1" i="0" u="none" strike="noStrike" kern="1200" spc="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  <a:fld id="{BF99E4E8-DB94-472A-9A30-50C6F0D20EB7}" type="CATEGORYNAME">
                  <a:rPr lang="en-US">
                    <a:solidFill>
                      <a:schemeClr val="tx1"/>
                    </a:solidFill>
                  </a:rPr>
                  <a:pPr>
                    <a:defRPr sz="1000" b="1" i="0" u="none" strike="noStrike" kern="1200" spc="0" baseline="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pPr>
                  <a:t>[CATEGORY NAME]</a:t>
                </a:fld>
                <a:r>
                  <a:rPr lang="en-US" baseline="0">
                    <a:solidFill>
                      <a:schemeClr val="tx1"/>
                    </a:solidFill>
                  </a:rPr>
                  <a:t>
</a:t>
                </a:r>
                <a:r>
                  <a:rPr lang="en-US" sz="1000" b="1" i="0" u="none" strike="noStrike" baseline="0"/>
                  <a:t>19.74%</a:t>
                </a:r>
              </a:p>
            </c:rich>
          </c:tx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1000" b="1" i="0" u="none" strike="noStrike" kern="1200" spc="0" baseline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bestFit"/>
          <c:showLegendKey val="0"/>
          <c:showVal val="0"/>
          <c:showCatName val="1"/>
          <c:showSerName val="0"/>
          <c:showPercent val="1"/>
          <c:showBubbleSize val="0"/>
          <c:extLst>
            <c:ext xmlns:c15="http://schemas.microsoft.com/office/drawing/2012/chart" uri="{CE6537A1-D6FC-4f65-9D91-7224C49458BB}">
              <c15:dlblFieldTable/>
              <c15:showDataLabelsRange val="0"/>
            </c:ext>
          </c:extLst>
        </c:dLbl>
      </c:pivotFmt>
      <c:pivotFmt>
        <c:idx val="16"/>
        <c:spPr>
          <a:solidFill>
            <a:schemeClr val="accent6">
              <a:shade val="76000"/>
            </a:schemeClr>
          </a:solidFill>
          <a:ln>
            <a:noFill/>
          </a:ln>
          <a:effectLst>
            <a:outerShdw blurRad="63500" sx="102000" sy="102000" algn="ctr" rotWithShape="0">
              <a:prstClr val="black">
                <a:alpha val="20000"/>
              </a:prstClr>
            </a:outerShdw>
          </a:effectLst>
        </c:spPr>
        <c:dLbl>
          <c:idx val="0"/>
          <c:layout>
            <c:manualLayout>
              <c:x val="0.1722247447222684"/>
              <c:y val="-7.4375619278123459E-2"/>
            </c:manualLayout>
          </c:layout>
          <c:tx>
            <c:rich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000" b="1" i="0" u="none" strike="noStrike" kern="1200" spc="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  <a:fld id="{D627FE87-42C2-416B-B6B8-730721C04DB9}" type="CATEGORYNAME">
                  <a:rPr lang="en-US">
                    <a:solidFill>
                      <a:schemeClr val="tx1"/>
                    </a:solidFill>
                  </a:rPr>
                  <a:pPr>
                    <a:defRPr sz="1000" b="1" i="0" u="none" strike="noStrike" kern="1200" spc="0" baseline="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pPr>
                  <a:t>[CATEGORY NAME]</a:t>
                </a:fld>
                <a:r>
                  <a:rPr lang="en-US" baseline="0">
                    <a:solidFill>
                      <a:schemeClr val="tx1"/>
                    </a:solidFill>
                  </a:rPr>
                  <a:t>
</a:t>
                </a:r>
                <a:r>
                  <a:rPr lang="en-US" sz="1000" b="1" i="0" u="none" strike="noStrike" baseline="0"/>
                  <a:t>19.99%</a:t>
                </a:r>
              </a:p>
            </c:rich>
          </c:tx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1000" b="1" i="0" u="none" strike="noStrike" kern="1200" spc="0" baseline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bestFit"/>
          <c:showLegendKey val="0"/>
          <c:showVal val="0"/>
          <c:showCatName val="1"/>
          <c:showSerName val="0"/>
          <c:showPercent val="1"/>
          <c:showBubbleSize val="0"/>
          <c:extLst>
            <c:ext xmlns:c15="http://schemas.microsoft.com/office/drawing/2012/chart" uri="{CE6537A1-D6FC-4f65-9D91-7224C49458BB}">
              <c15:dlblFieldTable/>
              <c15:showDataLabelsRange val="0"/>
            </c:ext>
          </c:extLst>
        </c:dLbl>
      </c:pivotFmt>
      <c:pivotFmt>
        <c:idx val="17"/>
        <c:spPr>
          <a:solidFill>
            <a:schemeClr val="accent6">
              <a:shade val="53000"/>
            </a:schemeClr>
          </a:solidFill>
          <a:ln>
            <a:noFill/>
          </a:ln>
          <a:effectLst>
            <a:outerShdw blurRad="63500" sx="102000" sy="102000" algn="ctr" rotWithShape="0">
              <a:prstClr val="black">
                <a:alpha val="20000"/>
              </a:prstClr>
            </a:outerShdw>
          </a:effectLst>
        </c:spPr>
        <c:dLbl>
          <c:idx val="0"/>
          <c:layout>
            <c:manualLayout>
              <c:x val="0.15277387044701457"/>
              <c:y val="0.18161088670132575"/>
            </c:manualLayout>
          </c:layout>
          <c:tx>
            <c:rich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000" b="1" i="0" u="none" strike="noStrike" kern="1200" spc="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  <a:fld id="{4010A8B6-6CEC-4138-BCB1-CAC599DA795A}" type="CATEGORYNAME">
                  <a:rPr lang="en-US">
                    <a:solidFill>
                      <a:schemeClr val="tx1"/>
                    </a:solidFill>
                  </a:rPr>
                  <a:pPr>
                    <a:defRPr sz="1000" b="1" i="0" u="none" strike="noStrike" kern="1200" spc="0" baseline="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pPr>
                  <a:t>[CATEGORY NAME]</a:t>
                </a:fld>
                <a:r>
                  <a:rPr lang="en-US" baseline="0">
                    <a:solidFill>
                      <a:schemeClr val="tx1"/>
                    </a:solidFill>
                  </a:rPr>
                  <a:t>
</a:t>
                </a:r>
                <a:r>
                  <a:rPr lang="en-US" sz="1000" b="1" i="0" u="none" strike="noStrike" baseline="0"/>
                  <a:t>20.03%</a:t>
                </a:r>
              </a:p>
            </c:rich>
          </c:tx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1000" b="1" i="0" u="none" strike="noStrike" kern="1200" spc="0" baseline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bestFit"/>
          <c:showLegendKey val="0"/>
          <c:showVal val="0"/>
          <c:showCatName val="1"/>
          <c:showSerName val="0"/>
          <c:showPercent val="1"/>
          <c:showBubbleSize val="0"/>
          <c:extLst>
            <c:ext xmlns:c15="http://schemas.microsoft.com/office/drawing/2012/chart" uri="{CE6537A1-D6FC-4f65-9D91-7224C49458BB}">
              <c15:dlblFieldTable/>
              <c15:showDataLabelsRange val="0"/>
            </c:ext>
          </c:extLst>
        </c:dLbl>
      </c:pivotFmt>
    </c:pivotFmts>
    <c:plotArea>
      <c:layout>
        <c:manualLayout>
          <c:layoutTarget val="inner"/>
          <c:xMode val="edge"/>
          <c:yMode val="edge"/>
          <c:x val="9.6885607949410035E-2"/>
          <c:y val="0.1182990135181298"/>
          <c:w val="0.56154481974224801"/>
          <c:h val="0.79827648513247373"/>
        </c:manualLayout>
      </c:layout>
      <c:pieChart>
        <c:varyColors val="1"/>
        <c:ser>
          <c:idx val="0"/>
          <c:order val="0"/>
          <c:tx>
            <c:strRef>
              <c:f>Sheet1!$B$3</c:f>
              <c:strCache>
                <c:ptCount val="1"/>
                <c:pt idx="0">
                  <c:v>Total</c:v>
                </c:pt>
              </c:strCache>
            </c:strRef>
          </c:tx>
          <c:dPt>
            <c:idx val="0"/>
            <c:bubble3D val="0"/>
            <c:spPr>
              <a:gradFill rotWithShape="1">
                <a:gsLst>
                  <a:gs pos="0">
                    <a:schemeClr val="accent6">
                      <a:tint val="54000"/>
                      <a:satMod val="103000"/>
                      <a:lumMod val="102000"/>
                      <a:tint val="94000"/>
                    </a:schemeClr>
                  </a:gs>
                  <a:gs pos="50000">
                    <a:schemeClr val="accent6">
                      <a:tint val="54000"/>
                      <a:satMod val="110000"/>
                      <a:lumMod val="100000"/>
                      <a:shade val="100000"/>
                    </a:schemeClr>
                  </a:gs>
                  <a:gs pos="100000">
                    <a:schemeClr val="accent6">
                      <a:tint val="54000"/>
                      <a:lumMod val="99000"/>
                      <a:satMod val="120000"/>
                      <a:shade val="78000"/>
                    </a:schemeClr>
                  </a:gs>
                </a:gsLst>
                <a:lin ang="5400000" scaled="0"/>
              </a:gradFill>
              <a:ln>
                <a:noFill/>
              </a:ln>
              <a:effectLst>
                <a:outerShdw blurRad="57150" dist="19050" dir="5400000" algn="ctr" rotWithShape="0">
                  <a:srgbClr val="000000">
                    <a:alpha val="63000"/>
                  </a:srgbClr>
                </a:outerShdw>
              </a:effectLst>
            </c:spPr>
            <c:extLst>
              <c:ext xmlns:c16="http://schemas.microsoft.com/office/drawing/2014/chart" uri="{C3380CC4-5D6E-409C-BE32-E72D297353CC}">
                <c16:uniqueId val="{00000001-D96A-471C-AEAA-8F6510EEA32D}"/>
              </c:ext>
            </c:extLst>
          </c:dPt>
          <c:dPt>
            <c:idx val="1"/>
            <c:bubble3D val="0"/>
            <c:spPr>
              <a:gradFill rotWithShape="1">
                <a:gsLst>
                  <a:gs pos="0">
                    <a:schemeClr val="accent6">
                      <a:tint val="77000"/>
                      <a:satMod val="103000"/>
                      <a:lumMod val="102000"/>
                      <a:tint val="94000"/>
                    </a:schemeClr>
                  </a:gs>
                  <a:gs pos="50000">
                    <a:schemeClr val="accent6">
                      <a:tint val="77000"/>
                      <a:satMod val="110000"/>
                      <a:lumMod val="100000"/>
                      <a:shade val="100000"/>
                    </a:schemeClr>
                  </a:gs>
                  <a:gs pos="100000">
                    <a:schemeClr val="accent6">
                      <a:tint val="77000"/>
                      <a:lumMod val="99000"/>
                      <a:satMod val="120000"/>
                      <a:shade val="78000"/>
                    </a:schemeClr>
                  </a:gs>
                </a:gsLst>
                <a:lin ang="5400000" scaled="0"/>
              </a:gradFill>
              <a:ln>
                <a:noFill/>
              </a:ln>
              <a:effectLst>
                <a:outerShdw blurRad="57150" dist="19050" dir="5400000" algn="ctr" rotWithShape="0">
                  <a:srgbClr val="000000">
                    <a:alpha val="63000"/>
                  </a:srgbClr>
                </a:outerShdw>
              </a:effectLst>
            </c:spPr>
            <c:extLst>
              <c:ext xmlns:c16="http://schemas.microsoft.com/office/drawing/2014/chart" uri="{C3380CC4-5D6E-409C-BE32-E72D297353CC}">
                <c16:uniqueId val="{00000003-D96A-471C-AEAA-8F6510EEA32D}"/>
              </c:ext>
            </c:extLst>
          </c:dPt>
          <c:dPt>
            <c:idx val="2"/>
            <c:bubble3D val="0"/>
            <c:spPr>
              <a:gradFill rotWithShape="1">
                <a:gsLst>
                  <a:gs pos="0">
                    <a:schemeClr val="accent6">
                      <a:satMod val="103000"/>
                      <a:lumMod val="102000"/>
                      <a:tint val="94000"/>
                    </a:schemeClr>
                  </a:gs>
                  <a:gs pos="50000">
                    <a:schemeClr val="accent6">
                      <a:satMod val="110000"/>
                      <a:lumMod val="100000"/>
                      <a:shade val="100000"/>
                    </a:schemeClr>
                  </a:gs>
                  <a:gs pos="100000">
                    <a:schemeClr val="accent6">
                      <a:lumMod val="99000"/>
                      <a:satMod val="120000"/>
                      <a:shade val="78000"/>
                    </a:schemeClr>
                  </a:gs>
                </a:gsLst>
                <a:lin ang="5400000" scaled="0"/>
              </a:gradFill>
              <a:ln>
                <a:noFill/>
              </a:ln>
              <a:effectLst>
                <a:outerShdw blurRad="57150" dist="19050" dir="5400000" algn="ctr" rotWithShape="0">
                  <a:srgbClr val="000000">
                    <a:alpha val="63000"/>
                  </a:srgbClr>
                </a:outerShdw>
              </a:effectLst>
            </c:spPr>
            <c:extLst>
              <c:ext xmlns:c16="http://schemas.microsoft.com/office/drawing/2014/chart" uri="{C3380CC4-5D6E-409C-BE32-E72D297353CC}">
                <c16:uniqueId val="{00000005-D96A-471C-AEAA-8F6510EEA32D}"/>
              </c:ext>
            </c:extLst>
          </c:dPt>
          <c:dPt>
            <c:idx val="3"/>
            <c:bubble3D val="0"/>
            <c:spPr>
              <a:gradFill rotWithShape="1">
                <a:gsLst>
                  <a:gs pos="0">
                    <a:schemeClr val="accent6">
                      <a:shade val="76000"/>
                      <a:satMod val="103000"/>
                      <a:lumMod val="102000"/>
                      <a:tint val="94000"/>
                    </a:schemeClr>
                  </a:gs>
                  <a:gs pos="50000">
                    <a:schemeClr val="accent6">
                      <a:shade val="76000"/>
                      <a:satMod val="110000"/>
                      <a:lumMod val="100000"/>
                      <a:shade val="100000"/>
                    </a:schemeClr>
                  </a:gs>
                  <a:gs pos="100000">
                    <a:schemeClr val="accent6">
                      <a:shade val="76000"/>
                      <a:lumMod val="99000"/>
                      <a:satMod val="120000"/>
                      <a:shade val="78000"/>
                    </a:schemeClr>
                  </a:gs>
                </a:gsLst>
                <a:lin ang="5400000" scaled="0"/>
              </a:gradFill>
              <a:ln>
                <a:noFill/>
              </a:ln>
              <a:effectLst>
                <a:outerShdw blurRad="57150" dist="19050" dir="5400000" algn="ctr" rotWithShape="0">
                  <a:srgbClr val="000000">
                    <a:alpha val="63000"/>
                  </a:srgbClr>
                </a:outerShdw>
              </a:effectLst>
            </c:spPr>
            <c:extLst>
              <c:ext xmlns:c16="http://schemas.microsoft.com/office/drawing/2014/chart" uri="{C3380CC4-5D6E-409C-BE32-E72D297353CC}">
                <c16:uniqueId val="{00000007-D96A-471C-AEAA-8F6510EEA32D}"/>
              </c:ext>
            </c:extLst>
          </c:dPt>
          <c:dPt>
            <c:idx val="4"/>
            <c:bubble3D val="0"/>
            <c:spPr>
              <a:gradFill rotWithShape="1">
                <a:gsLst>
                  <a:gs pos="0">
                    <a:schemeClr val="accent6">
                      <a:shade val="53000"/>
                      <a:satMod val="103000"/>
                      <a:lumMod val="102000"/>
                      <a:tint val="94000"/>
                    </a:schemeClr>
                  </a:gs>
                  <a:gs pos="50000">
                    <a:schemeClr val="accent6">
                      <a:shade val="53000"/>
                      <a:satMod val="110000"/>
                      <a:lumMod val="100000"/>
                      <a:shade val="100000"/>
                    </a:schemeClr>
                  </a:gs>
                  <a:gs pos="100000">
                    <a:schemeClr val="accent6">
                      <a:shade val="53000"/>
                      <a:lumMod val="99000"/>
                      <a:satMod val="120000"/>
                      <a:shade val="78000"/>
                    </a:schemeClr>
                  </a:gs>
                </a:gsLst>
                <a:lin ang="5400000" scaled="0"/>
              </a:gradFill>
              <a:ln>
                <a:noFill/>
              </a:ln>
              <a:effectLst>
                <a:outerShdw blurRad="57150" dist="19050" dir="5400000" algn="ctr" rotWithShape="0">
                  <a:srgbClr val="000000">
                    <a:alpha val="63000"/>
                  </a:srgbClr>
                </a:outerShdw>
              </a:effectLst>
            </c:spPr>
            <c:extLst>
              <c:ext xmlns:c16="http://schemas.microsoft.com/office/drawing/2014/chart" uri="{C3380CC4-5D6E-409C-BE32-E72D297353CC}">
                <c16:uniqueId val="{00000009-D96A-471C-AEAA-8F6510EEA32D}"/>
              </c:ext>
            </c:extLst>
          </c:dPt>
          <c:dLbls>
            <c:dLbl>
              <c:idx val="0"/>
              <c:layout>
                <c:manualLayout>
                  <c:x val="-0.10284407155060486"/>
                  <c:y val="0.18620684414058852"/>
                </c:manualLayout>
              </c:layout>
              <c:tx>
                <c:rich>
                  <a:bodyPr rot="0" spcFirstLastPara="1" vertOverflow="ellipsis" vert="horz" wrap="square" lIns="38100" tIns="19050" rIns="38100" bIns="19050" anchor="ctr" anchorCtr="1">
                    <a:spAutoFit/>
                  </a:bodyPr>
                  <a:lstStyle/>
                  <a:p>
                    <a:pPr>
                      <a:defRPr sz="1197" b="1" i="0" u="none" strike="noStrike" kern="1200" baseline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defRPr>
                    </a:pPr>
                    <a:fld id="{C0B47AE1-A681-4264-8A3D-82F7FDCCBA28}" type="CATEGORYNAME">
                      <a:rPr lang="en-US" b="1">
                        <a:solidFill>
                          <a:schemeClr val="bg1"/>
                        </a:solidFill>
                      </a:rPr>
                      <a:pPr>
                        <a:defRPr b="1">
                          <a:solidFill>
                            <a:schemeClr val="bg1"/>
                          </a:solidFill>
                        </a:defRPr>
                      </a:pPr>
                      <a:t>[CATEGORY NAME]</a:t>
                    </a:fld>
                    <a:r>
                      <a:rPr lang="en-US" b="1">
                        <a:solidFill>
                          <a:schemeClr val="bg1"/>
                        </a:solidFill>
                      </a:rPr>
                      <a:t>
19.79%</a:t>
                    </a:r>
                  </a:p>
                </c:rich>
              </c:tx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1197" b="1" i="0" u="none" strike="noStrike" kern="1200" baseline="0">
                      <a:solidFill>
                        <a:schemeClr val="bg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bestFit"/>
              <c:showLegendKey val="0"/>
              <c:showVal val="0"/>
              <c:showCatName val="1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0"/>
                </c:ext>
                <c:ext xmlns:c16="http://schemas.microsoft.com/office/drawing/2014/chart" uri="{C3380CC4-5D6E-409C-BE32-E72D297353CC}">
                  <c16:uniqueId val="{00000001-D96A-471C-AEAA-8F6510EEA32D}"/>
                </c:ext>
              </c:extLst>
            </c:dLbl>
            <c:dLbl>
              <c:idx val="1"/>
              <c:layout>
                <c:manualLayout>
                  <c:x val="-0.15278651929450834"/>
                  <c:y val="-7.4452339197582026E-2"/>
                </c:manualLayout>
              </c:layout>
              <c:tx>
                <c:rich>
                  <a:bodyPr rot="0" spcFirstLastPara="1" vertOverflow="ellipsis" vert="horz" wrap="square" lIns="38100" tIns="19050" rIns="38100" bIns="19050" anchor="ctr" anchorCtr="1">
                    <a:spAutoFit/>
                  </a:bodyPr>
                  <a:lstStyle/>
                  <a:p>
                    <a:pPr>
                      <a:defRPr sz="1197" b="1" i="0" u="none" strike="noStrike" kern="1200" baseline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defRPr>
                    </a:pPr>
                    <a:fld id="{038B314E-6545-49FD-BEC1-95290A396819}" type="CATEGORYNAME">
                      <a:rPr lang="en-US" b="1">
                        <a:solidFill>
                          <a:schemeClr val="bg1"/>
                        </a:solidFill>
                      </a:rPr>
                      <a:pPr>
                        <a:defRPr b="1">
                          <a:solidFill>
                            <a:schemeClr val="bg1"/>
                          </a:solidFill>
                        </a:defRPr>
                      </a:pPr>
                      <a:t>[CATEGORY NAME]</a:t>
                    </a:fld>
                    <a:r>
                      <a:rPr lang="en-US" b="1">
                        <a:solidFill>
                          <a:schemeClr val="bg1"/>
                        </a:solidFill>
                      </a:rPr>
                      <a:t>
20.45%</a:t>
                    </a:r>
                  </a:p>
                </c:rich>
              </c:tx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1197" b="1" i="0" u="none" strike="noStrike" kern="1200" baseline="0">
                      <a:solidFill>
                        <a:schemeClr val="bg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bestFit"/>
              <c:showLegendKey val="0"/>
              <c:showVal val="0"/>
              <c:showCatName val="1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0"/>
                </c:ext>
                <c:ext xmlns:c16="http://schemas.microsoft.com/office/drawing/2014/chart" uri="{C3380CC4-5D6E-409C-BE32-E72D297353CC}">
                  <c16:uniqueId val="{00000003-D96A-471C-AEAA-8F6510EEA32D}"/>
                </c:ext>
              </c:extLst>
            </c:dLbl>
            <c:dLbl>
              <c:idx val="2"/>
              <c:layout>
                <c:manualLayout>
                  <c:x val="2.7823102814630266E-3"/>
                  <c:y val="-0.18635956020668049"/>
                </c:manualLayout>
              </c:layout>
              <c:tx>
                <c:rich>
                  <a:bodyPr rot="0" spcFirstLastPara="1" vertOverflow="ellipsis" vert="horz" wrap="square" lIns="38100" tIns="19050" rIns="38100" bIns="19050" anchor="ctr" anchorCtr="1">
                    <a:spAutoFit/>
                  </a:bodyPr>
                  <a:lstStyle/>
                  <a:p>
                    <a:pPr>
                      <a:defRPr sz="1197" b="1" i="0" u="none" strike="noStrike" kern="1200" baseline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defRPr>
                    </a:pPr>
                    <a:fld id="{BF99E4E8-DB94-472A-9A30-50C6F0D20EB7}" type="CATEGORYNAME">
                      <a:rPr lang="en-US" b="1">
                        <a:solidFill>
                          <a:schemeClr val="bg1"/>
                        </a:solidFill>
                      </a:rPr>
                      <a:pPr>
                        <a:defRPr b="1">
                          <a:solidFill>
                            <a:schemeClr val="bg1"/>
                          </a:solidFill>
                        </a:defRPr>
                      </a:pPr>
                      <a:t>[CATEGORY NAME]</a:t>
                    </a:fld>
                    <a:r>
                      <a:rPr lang="en-US" b="1">
                        <a:solidFill>
                          <a:schemeClr val="bg1"/>
                        </a:solidFill>
                      </a:rPr>
                      <a:t>
19.74%</a:t>
                    </a:r>
                  </a:p>
                </c:rich>
              </c:tx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1197" b="1" i="0" u="none" strike="noStrike" kern="1200" baseline="0">
                      <a:solidFill>
                        <a:schemeClr val="bg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bestFit"/>
              <c:showLegendKey val="0"/>
              <c:showVal val="0"/>
              <c:showCatName val="1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0"/>
                </c:ext>
                <c:ext xmlns:c16="http://schemas.microsoft.com/office/drawing/2014/chart" uri="{C3380CC4-5D6E-409C-BE32-E72D297353CC}">
                  <c16:uniqueId val="{00000005-D96A-471C-AEAA-8F6510EEA32D}"/>
                </c:ext>
              </c:extLst>
            </c:dLbl>
            <c:dLbl>
              <c:idx val="3"/>
              <c:layout>
                <c:manualLayout>
                  <c:x val="0.1722247447222684"/>
                  <c:y val="-7.4375619278123459E-2"/>
                </c:manualLayout>
              </c:layout>
              <c:tx>
                <c:rich>
                  <a:bodyPr rot="0" spcFirstLastPara="1" vertOverflow="ellipsis" vert="horz" wrap="square" lIns="38100" tIns="19050" rIns="38100" bIns="19050" anchor="ctr" anchorCtr="1">
                    <a:spAutoFit/>
                  </a:bodyPr>
                  <a:lstStyle/>
                  <a:p>
                    <a:pPr>
                      <a:defRPr sz="1197" b="1" i="0" u="none" strike="noStrike" kern="1200" baseline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defRPr>
                    </a:pPr>
                    <a:fld id="{D627FE87-42C2-416B-B6B8-730721C04DB9}" type="CATEGORYNAME">
                      <a:rPr lang="en-US" b="1">
                        <a:solidFill>
                          <a:schemeClr val="bg1"/>
                        </a:solidFill>
                      </a:rPr>
                      <a:pPr>
                        <a:defRPr b="1">
                          <a:solidFill>
                            <a:schemeClr val="bg1"/>
                          </a:solidFill>
                        </a:defRPr>
                      </a:pPr>
                      <a:t>[CATEGORY NAME]</a:t>
                    </a:fld>
                    <a:r>
                      <a:rPr lang="en-US" b="1">
                        <a:solidFill>
                          <a:schemeClr val="bg1"/>
                        </a:solidFill>
                      </a:rPr>
                      <a:t>
19.99%</a:t>
                    </a:r>
                  </a:p>
                </c:rich>
              </c:tx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1197" b="1" i="0" u="none" strike="noStrike" kern="1200" baseline="0">
                      <a:solidFill>
                        <a:schemeClr val="bg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bestFit"/>
              <c:showLegendKey val="0"/>
              <c:showVal val="0"/>
              <c:showCatName val="1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0"/>
                </c:ext>
                <c:ext xmlns:c16="http://schemas.microsoft.com/office/drawing/2014/chart" uri="{C3380CC4-5D6E-409C-BE32-E72D297353CC}">
                  <c16:uniqueId val="{00000007-D96A-471C-AEAA-8F6510EEA32D}"/>
                </c:ext>
              </c:extLst>
            </c:dLbl>
            <c:dLbl>
              <c:idx val="4"/>
              <c:layout>
                <c:manualLayout>
                  <c:x val="0.16013349464161222"/>
                  <c:y val="0.18161080703465593"/>
                </c:manualLayout>
              </c:layout>
              <c:tx>
                <c:rich>
                  <a:bodyPr rot="0" spcFirstLastPara="1" vertOverflow="ellipsis" vert="horz" wrap="square" lIns="38100" tIns="19050" rIns="38100" bIns="19050" anchor="ctr" anchorCtr="1">
                    <a:spAutoFit/>
                  </a:bodyPr>
                  <a:lstStyle/>
                  <a:p>
                    <a:pPr>
                      <a:defRPr sz="1197" b="1" i="0" u="none" strike="noStrike" kern="1200" baseline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defRPr>
                    </a:pPr>
                    <a:fld id="{4010A8B6-6CEC-4138-BCB1-CAC599DA795A}" type="CATEGORYNAME">
                      <a:rPr lang="en-US" b="1">
                        <a:solidFill>
                          <a:schemeClr val="bg1"/>
                        </a:solidFill>
                      </a:rPr>
                      <a:pPr>
                        <a:defRPr b="1">
                          <a:solidFill>
                            <a:schemeClr val="bg1"/>
                          </a:solidFill>
                        </a:defRPr>
                      </a:pPr>
                      <a:t>[CATEGORY NAME]</a:t>
                    </a:fld>
                    <a:r>
                      <a:rPr lang="en-US" b="1">
                        <a:solidFill>
                          <a:schemeClr val="bg1"/>
                        </a:solidFill>
                      </a:rPr>
                      <a:t>
20.03%</a:t>
                    </a:r>
                  </a:p>
                </c:rich>
              </c:tx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1197" b="1" i="0" u="none" strike="noStrike" kern="1200" baseline="0">
                      <a:solidFill>
                        <a:schemeClr val="bg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bestFit"/>
              <c:showLegendKey val="0"/>
              <c:showVal val="0"/>
              <c:showCatName val="1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0"/>
                </c:ext>
                <c:ext xmlns:c16="http://schemas.microsoft.com/office/drawing/2014/chart" uri="{C3380CC4-5D6E-409C-BE32-E72D297353CC}">
                  <c16:uniqueId val="{00000009-D96A-471C-AEAA-8F6510EEA32D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1" i="0" u="none" strike="noStrike" kern="1200" baseline="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outEnd"/>
            <c:showLegendKey val="0"/>
            <c:showVal val="0"/>
            <c:showCatName val="1"/>
            <c:showSerName val="0"/>
            <c:showPercent val="1"/>
            <c:showBubbleSize val="0"/>
            <c:showLeaderLines val="1"/>
            <c:leaderLines>
              <c:spPr>
                <a:ln w="9525" cap="flat" cmpd="sng" algn="ctr">
                  <a:solidFill>
                    <a:schemeClr val="tx1">
                      <a:lumMod val="35000"/>
                      <a:lumOff val="65000"/>
                    </a:schemeClr>
                  </a:solidFill>
                  <a:round/>
                </a:ln>
                <a:effectLst/>
              </c:spPr>
            </c:leaderLines>
            <c:extLst>
              <c:ext xmlns:c15="http://schemas.microsoft.com/office/drawing/2012/chart" uri="{CE6537A1-D6FC-4f65-9D91-7224C49458BB}"/>
            </c:extLst>
          </c:dLbls>
          <c:cat>
            <c:strRef>
              <c:f>Sheet1!$A$4:$A$9</c:f>
              <c:strCache>
                <c:ptCount val="5"/>
                <c:pt idx="0">
                  <c:v>Energy</c:v>
                </c:pt>
                <c:pt idx="1">
                  <c:v>Finance</c:v>
                </c:pt>
                <c:pt idx="2">
                  <c:v>Healthcare</c:v>
                </c:pt>
                <c:pt idx="3">
                  <c:v>Technology</c:v>
                </c:pt>
                <c:pt idx="4">
                  <c:v>Transportation</c:v>
                </c:pt>
              </c:strCache>
            </c:strRef>
          </c:cat>
          <c:val>
            <c:numRef>
              <c:f>Sheet1!$B$4:$B$9</c:f>
              <c:numCache>
                <c:formatCode>General</c:formatCode>
                <c:ptCount val="5"/>
                <c:pt idx="0">
                  <c:v>1880</c:v>
                </c:pt>
                <c:pt idx="1">
                  <c:v>1942</c:v>
                </c:pt>
                <c:pt idx="2">
                  <c:v>1876</c:v>
                </c:pt>
                <c:pt idx="3">
                  <c:v>1899</c:v>
                </c:pt>
                <c:pt idx="4">
                  <c:v>1902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A-D96A-471C-AEAA-8F6510EEA32D}"/>
            </c:ext>
          </c:extLst>
        </c:ser>
        <c:dLbls>
          <c:dLblPos val="outEnd"/>
          <c:showLegendKey val="0"/>
          <c:showVal val="0"/>
          <c:showCatName val="1"/>
          <c:showSerName val="0"/>
          <c:showPercent val="1"/>
          <c:showBubbleSize val="0"/>
          <c:showLeaderLines val="1"/>
        </c:dLbls>
        <c:firstSliceAng val="0"/>
      </c:pieChart>
      <c:spPr>
        <a:noFill/>
        <a:ln>
          <a:noFill/>
        </a:ln>
        <a:effectLst/>
      </c:spPr>
    </c:plotArea>
    <c:legend>
      <c:legendPos val="r"/>
      <c:layout>
        <c:manualLayout>
          <c:xMode val="edge"/>
          <c:yMode val="edge"/>
          <c:x val="0.7037980913828269"/>
          <c:y val="0.33553234981716973"/>
          <c:w val="0.22505808083198292"/>
          <c:h val="0.35683491010064727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bg1"/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Series val="1"/>
        <c14:dropZonesVisible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8"/>
    </mc:Choice>
    <mc:Fallback>
      <c:style val="8"/>
    </mc:Fallback>
  </mc:AlternateContent>
  <c:pivotSource>
    <c:name>[Week 2 inclass excel dashboard.xlsx]Pivot Table!PivotTable1</c:name>
    <c:fmtId val="49"/>
  </c:pivotSource>
  <c:chart>
    <c:autoTitleDeleted val="1"/>
    <c:pivotFmts>
      <c:pivotFmt>
        <c:idx val="0"/>
        <c:spPr>
          <a:solidFill>
            <a:schemeClr val="accent6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spPr>
          <a:solidFill>
            <a:schemeClr val="accent6"/>
          </a:solidFill>
          <a:ln>
            <a:noFill/>
          </a:ln>
          <a:effectLst/>
        </c:spP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"/>
        <c:spPr>
          <a:solidFill>
            <a:schemeClr val="accent6"/>
          </a:solidFill>
          <a:ln>
            <a:noFill/>
          </a:ln>
          <a:effectLst/>
        </c:spP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"/>
        <c:spPr>
          <a:solidFill>
            <a:schemeClr val="accent6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4"/>
        <c:spPr>
          <a:solidFill>
            <a:schemeClr val="accent6"/>
          </a:solidFill>
          <a:ln>
            <a:noFill/>
          </a:ln>
          <a:effectLst/>
        </c:spP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5"/>
        <c:spPr>
          <a:solidFill>
            <a:schemeClr val="accent6"/>
          </a:solidFill>
          <a:ln>
            <a:noFill/>
          </a:ln>
          <a:effectLst/>
        </c:spP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6"/>
        <c:spPr>
          <a:solidFill>
            <a:schemeClr val="accent6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900" b="0" i="0" u="none" strike="noStrike" kern="1200" baseline="0">
                  <a:solidFill>
                    <a:schemeClr val="bg1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7"/>
        <c:spPr>
          <a:solidFill>
            <a:schemeClr val="accent6"/>
          </a:solidFill>
          <a:ln>
            <a:noFill/>
          </a:ln>
          <a:effectLst/>
        </c:spP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900" b="0" i="0" u="none" strike="noStrike" kern="1200" baseline="0">
                  <a:solidFill>
                    <a:schemeClr val="bg1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8"/>
        <c:spPr>
          <a:solidFill>
            <a:schemeClr val="accent6"/>
          </a:solidFill>
          <a:ln>
            <a:noFill/>
          </a:ln>
          <a:effectLst/>
        </c:spP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900" b="0" i="0" u="none" strike="noStrike" kern="1200" baseline="0">
                  <a:solidFill>
                    <a:schemeClr val="bg1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9"/>
        <c:spPr>
          <a:solidFill>
            <a:schemeClr val="accent6"/>
          </a:solidFill>
          <a:ln>
            <a:noFill/>
          </a:ln>
          <a:effectLst/>
        </c:spPr>
      </c:pivotFmt>
      <c:pivotFmt>
        <c:idx val="10"/>
        <c:spPr>
          <a:solidFill>
            <a:schemeClr val="accent6"/>
          </a:solidFill>
          <a:ln>
            <a:noFill/>
          </a:ln>
          <a:effectLst/>
        </c:spPr>
      </c:pivotFmt>
      <c:pivotFmt>
        <c:idx val="11"/>
        <c:spPr>
          <a:solidFill>
            <a:schemeClr val="accent6"/>
          </a:solidFill>
          <a:ln>
            <a:noFill/>
          </a:ln>
          <a:effectLst/>
        </c:spPr>
      </c:pivotFmt>
      <c:pivotFmt>
        <c:idx val="12"/>
        <c:spPr>
          <a:solidFill>
            <a:schemeClr val="accent6"/>
          </a:solidFill>
          <a:ln>
            <a:noFill/>
          </a:ln>
          <a:effectLst/>
        </c:spPr>
      </c:pivotFmt>
      <c:pivotFmt>
        <c:idx val="13"/>
        <c:spPr>
          <a:solidFill>
            <a:schemeClr val="accent6"/>
          </a:solidFill>
          <a:ln>
            <a:noFill/>
          </a:ln>
          <a:effectLst/>
        </c:spPr>
      </c:pivotFmt>
      <c:pivotFmt>
        <c:idx val="14"/>
        <c:spPr>
          <a:solidFill>
            <a:schemeClr val="accent6"/>
          </a:solidFill>
          <a:ln>
            <a:noFill/>
          </a:ln>
          <a:effectLst/>
        </c:spPr>
      </c:pivotFmt>
      <c:pivotFmt>
        <c:idx val="15"/>
        <c:spPr>
          <a:solidFill>
            <a:schemeClr val="accent6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900" b="0" i="0" u="none" strike="noStrike" kern="1200" baseline="0">
                  <a:solidFill>
                    <a:schemeClr val="bg1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6"/>
        <c:spPr>
          <a:solidFill>
            <a:schemeClr val="accent6"/>
          </a:solidFill>
          <a:ln>
            <a:noFill/>
          </a:ln>
          <a:effectLst/>
        </c:spP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900" b="0" i="0" u="none" strike="noStrike" kern="1200" baseline="0">
                  <a:solidFill>
                    <a:schemeClr val="bg1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7"/>
        <c:spPr>
          <a:solidFill>
            <a:schemeClr val="accent6"/>
          </a:solidFill>
          <a:ln>
            <a:noFill/>
          </a:ln>
          <a:effectLst/>
        </c:spPr>
      </c:pivotFmt>
      <c:pivotFmt>
        <c:idx val="18"/>
        <c:spPr>
          <a:solidFill>
            <a:schemeClr val="accent6"/>
          </a:solidFill>
          <a:ln>
            <a:noFill/>
          </a:ln>
          <a:effectLst/>
        </c:spPr>
      </c:pivotFmt>
      <c:pivotFmt>
        <c:idx val="19"/>
        <c:spPr>
          <a:solidFill>
            <a:schemeClr val="accent6"/>
          </a:solidFill>
          <a:ln>
            <a:noFill/>
          </a:ln>
          <a:effectLst/>
        </c:spPr>
      </c:pivotFmt>
      <c:pivotFmt>
        <c:idx val="20"/>
        <c:spPr>
          <a:solidFill>
            <a:schemeClr val="accent6"/>
          </a:solidFill>
          <a:ln>
            <a:noFill/>
          </a:ln>
          <a:effectLst/>
        </c:spPr>
      </c:pivotFmt>
      <c:pivotFmt>
        <c:idx val="21"/>
        <c:spPr>
          <a:solidFill>
            <a:schemeClr val="accent6"/>
          </a:solidFill>
          <a:ln>
            <a:noFill/>
          </a:ln>
          <a:effectLst/>
        </c:spPr>
      </c:pivotFmt>
      <c:pivotFmt>
        <c:idx val="22"/>
        <c:spPr>
          <a:solidFill>
            <a:schemeClr val="accent6"/>
          </a:solidFill>
          <a:ln>
            <a:noFill/>
          </a:ln>
          <a:effectLst/>
        </c:spPr>
      </c:pivotFmt>
      <c:pivotFmt>
        <c:idx val="23"/>
        <c:spPr>
          <a:solidFill>
            <a:schemeClr val="accent6"/>
          </a:solidFill>
          <a:ln>
            <a:noFill/>
          </a:ln>
          <a:effectLst/>
        </c:spP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900" b="0" i="0" u="none" strike="noStrike" kern="1200" baseline="0">
                  <a:solidFill>
                    <a:schemeClr val="bg1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4"/>
        <c:spPr>
          <a:solidFill>
            <a:schemeClr val="accent6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900" b="0" i="0" u="none" strike="noStrike" kern="1200" baseline="0">
                  <a:solidFill>
                    <a:schemeClr val="bg1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5"/>
        <c:spPr>
          <a:solidFill>
            <a:schemeClr val="accent6"/>
          </a:solidFill>
          <a:ln>
            <a:noFill/>
          </a:ln>
          <a:effectLst/>
        </c:spPr>
        <c:dLbl>
          <c:idx val="0"/>
          <c:layout>
            <c:manualLayout>
              <c:x val="9.6927253425080961E-2"/>
              <c:y val="5.8736173296685661E-3"/>
            </c:manualLayout>
          </c:layout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900" b="0" i="0" u="none" strike="noStrike" kern="1200" baseline="0">
                  <a:solidFill>
                    <a:schemeClr val="bg1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>
              <c15:layout>
                <c:manualLayout>
                  <c:w val="0.29654893185403519"/>
                  <c:h val="0.12316975540314982"/>
                </c:manualLayout>
              </c15:layout>
            </c:ext>
          </c:extLst>
        </c:dLbl>
      </c:pivotFmt>
      <c:pivotFmt>
        <c:idx val="26"/>
        <c:spPr>
          <a:solidFill>
            <a:schemeClr val="accent6"/>
          </a:solidFill>
          <a:ln>
            <a:noFill/>
          </a:ln>
          <a:effectLst/>
        </c:spPr>
      </c:pivotFmt>
      <c:pivotFmt>
        <c:idx val="27"/>
        <c:spPr>
          <a:solidFill>
            <a:schemeClr val="accent6"/>
          </a:solidFill>
          <a:ln>
            <a:noFill/>
          </a:ln>
          <a:effectLst/>
        </c:spPr>
      </c:pivotFmt>
      <c:pivotFmt>
        <c:idx val="28"/>
        <c:spPr>
          <a:solidFill>
            <a:schemeClr val="accent6"/>
          </a:solidFill>
          <a:ln>
            <a:noFill/>
          </a:ln>
          <a:effectLst/>
        </c:spPr>
      </c:pivotFmt>
      <c:pivotFmt>
        <c:idx val="29"/>
        <c:spPr>
          <a:solidFill>
            <a:schemeClr val="accent6"/>
          </a:solidFill>
          <a:ln>
            <a:noFill/>
          </a:ln>
          <a:effectLst/>
        </c:spPr>
      </c:pivotFmt>
      <c:pivotFmt>
        <c:idx val="30"/>
        <c:spPr>
          <a:solidFill>
            <a:schemeClr val="accent6"/>
          </a:solidFill>
          <a:ln>
            <a:noFill/>
          </a:ln>
          <a:effectLst/>
        </c:spPr>
      </c:pivotFmt>
      <c:pivotFmt>
        <c:idx val="31"/>
        <c:spPr>
          <a:solidFill>
            <a:schemeClr val="accent6"/>
          </a:solidFill>
          <a:ln>
            <a:noFill/>
          </a:ln>
          <a:effectLst/>
        </c:spPr>
      </c:pivotFmt>
      <c:pivotFmt>
        <c:idx val="32"/>
        <c:spPr>
          <a:solidFill>
            <a:schemeClr val="accent6"/>
          </a:solidFill>
          <a:ln>
            <a:noFill/>
          </a:ln>
          <a:effectLst/>
        </c:spPr>
        <c:dLbl>
          <c:idx val="0"/>
          <c:layout>
            <c:manualLayout>
              <c:x val="-2.4637870613083398E-3"/>
              <c:y val="-2.34947030141219E-2"/>
            </c:manualLayout>
          </c:layout>
          <c:tx>
            <c:rich>
              <a:bodyPr rot="0" spcFirstLastPara="1" vertOverflow="ellipsis" vert="horz" wrap="square" anchor="ctr" anchorCtr="1"/>
              <a:lstStyle/>
              <a:p>
                <a:pPr>
                  <a:defRPr sz="900" b="0" i="0" u="none" strike="noStrike" kern="1200" baseline="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pPr>
                <a:fld id="{7F36D417-4A96-4342-A694-2A5C643AA65F}" type="VALUE">
                  <a:rPr lang="en-US"/>
                  <a:pPr>
                    <a:defRPr sz="900" b="0" i="0" u="none" strike="noStrike" kern="1200" baseline="0">
                      <a:solidFill>
                        <a:schemeClr val="bg1"/>
                      </a:solidFill>
                      <a:latin typeface="+mn-lt"/>
                      <a:ea typeface="+mn-ea"/>
                      <a:cs typeface="+mn-cs"/>
                    </a:defRPr>
                  </a:pPr>
                  <a:t>[VALUE]</a:t>
                </a:fld>
                <a:endParaRPr lang="en-US"/>
              </a:p>
            </c:rich>
          </c:tx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900" b="0" i="0" u="none" strike="noStrike" kern="1200" baseline="0">
                  <a:solidFill>
                    <a:schemeClr val="bg1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>
              <c15:layout>
                <c:manualLayout>
                  <c:w val="0.30635842782468531"/>
                  <c:h val="0.14666422472182408"/>
                </c:manualLayout>
              </c15:layout>
              <c15:dlblFieldTable/>
              <c15:showDataLabelsRange val="0"/>
            </c:ext>
          </c:extLst>
        </c:dLbl>
      </c:pivotFmt>
      <c:pivotFmt>
        <c:idx val="33"/>
        <c:spPr>
          <a:solidFill>
            <a:schemeClr val="accent6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900" b="0" i="0" u="none" strike="noStrike" kern="1200" baseline="0">
                  <a:solidFill>
                    <a:schemeClr val="bg1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4"/>
        <c:spPr>
          <a:solidFill>
            <a:schemeClr val="accent6"/>
          </a:solidFill>
          <a:ln>
            <a:noFill/>
          </a:ln>
          <a:effectLst/>
        </c:spPr>
        <c:dLbl>
          <c:idx val="0"/>
          <c:layout>
            <c:manualLayout>
              <c:x val="9.6927253425080961E-2"/>
              <c:y val="5.8736173296685661E-3"/>
            </c:manualLayout>
          </c:layout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900" b="0" i="0" u="none" strike="noStrike" kern="1200" baseline="0">
                  <a:solidFill>
                    <a:schemeClr val="bg1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>
              <c15:layout>
                <c:manualLayout>
                  <c:w val="0.29654893185403519"/>
                  <c:h val="0.12316975540314982"/>
                </c:manualLayout>
              </c15:layout>
            </c:ext>
          </c:extLst>
        </c:dLbl>
      </c:pivotFmt>
      <c:pivotFmt>
        <c:idx val="35"/>
        <c:spPr>
          <a:solidFill>
            <a:schemeClr val="accent6"/>
          </a:solidFill>
          <a:ln>
            <a:noFill/>
          </a:ln>
          <a:effectLst/>
        </c:spPr>
      </c:pivotFmt>
      <c:pivotFmt>
        <c:idx val="36"/>
        <c:spPr>
          <a:solidFill>
            <a:schemeClr val="accent6"/>
          </a:solidFill>
          <a:ln>
            <a:noFill/>
          </a:ln>
          <a:effectLst/>
        </c:spPr>
      </c:pivotFmt>
      <c:pivotFmt>
        <c:idx val="37"/>
        <c:spPr>
          <a:solidFill>
            <a:schemeClr val="accent6"/>
          </a:solidFill>
          <a:ln>
            <a:noFill/>
          </a:ln>
          <a:effectLst/>
        </c:spPr>
      </c:pivotFmt>
      <c:pivotFmt>
        <c:idx val="38"/>
        <c:spPr>
          <a:solidFill>
            <a:schemeClr val="accent6"/>
          </a:solidFill>
          <a:ln>
            <a:noFill/>
          </a:ln>
          <a:effectLst/>
        </c:spPr>
      </c:pivotFmt>
      <c:pivotFmt>
        <c:idx val="39"/>
        <c:spPr>
          <a:solidFill>
            <a:schemeClr val="accent6"/>
          </a:solidFill>
          <a:ln>
            <a:noFill/>
          </a:ln>
          <a:effectLst/>
        </c:spPr>
      </c:pivotFmt>
      <c:pivotFmt>
        <c:idx val="40"/>
        <c:spPr>
          <a:solidFill>
            <a:schemeClr val="accent6"/>
          </a:solidFill>
          <a:ln>
            <a:noFill/>
          </a:ln>
          <a:effectLst/>
        </c:spPr>
      </c:pivotFmt>
      <c:pivotFmt>
        <c:idx val="41"/>
        <c:spPr>
          <a:solidFill>
            <a:schemeClr val="accent6"/>
          </a:solidFill>
          <a:ln>
            <a:noFill/>
          </a:ln>
          <a:effectLst/>
        </c:spPr>
        <c:dLbl>
          <c:idx val="0"/>
          <c:layout>
            <c:manualLayout>
              <c:x val="-2.4637870613083398E-3"/>
              <c:y val="-2.34947030141219E-2"/>
            </c:manualLayout>
          </c:layout>
          <c:tx>
            <c:rich>
              <a:bodyPr rot="0" spcFirstLastPara="1" vertOverflow="ellipsis" vert="horz" wrap="square" anchor="ctr" anchorCtr="1"/>
              <a:lstStyle/>
              <a:p>
                <a:pPr>
                  <a:defRPr sz="900" b="0" i="0" u="none" strike="noStrike" kern="1200" baseline="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pPr>
                <a:fld id="{7F36D417-4A96-4342-A694-2A5C643AA65F}" type="VALUE">
                  <a:rPr lang="en-US"/>
                  <a:pPr>
                    <a:defRPr sz="900" b="0" i="0" u="none" strike="noStrike" kern="1200" baseline="0">
                      <a:solidFill>
                        <a:schemeClr val="bg1"/>
                      </a:solidFill>
                      <a:latin typeface="+mn-lt"/>
                      <a:ea typeface="+mn-ea"/>
                      <a:cs typeface="+mn-cs"/>
                    </a:defRPr>
                  </a:pPr>
                  <a:t>[VALUE]</a:t>
                </a:fld>
                <a:endParaRPr lang="en-US"/>
              </a:p>
            </c:rich>
          </c:tx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900" b="0" i="0" u="none" strike="noStrike" kern="1200" baseline="0">
                  <a:solidFill>
                    <a:schemeClr val="bg1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>
              <c15:layout>
                <c:manualLayout>
                  <c:w val="0.30635842782468531"/>
                  <c:h val="0.14666422472182408"/>
                </c:manualLayout>
              </c15:layout>
              <c15:dlblFieldTable/>
              <c15:showDataLabelsRange val="0"/>
            </c:ext>
          </c:extLst>
        </c:dLbl>
      </c:pivotFmt>
      <c:pivotFmt>
        <c:idx val="42"/>
        <c:spPr>
          <a:solidFill>
            <a:schemeClr val="accent6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900" b="0" i="0" u="none" strike="noStrike" kern="1200" baseline="0">
                  <a:solidFill>
                    <a:schemeClr val="bg1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43"/>
        <c:spPr>
          <a:solidFill>
            <a:schemeClr val="accent6"/>
          </a:solidFill>
          <a:ln>
            <a:noFill/>
          </a:ln>
          <a:effectLst/>
        </c:spPr>
        <c:dLbl>
          <c:idx val="0"/>
          <c:layout>
            <c:manualLayout>
              <c:x val="9.6927253425080961E-2"/>
              <c:y val="5.8736173296685661E-3"/>
            </c:manualLayout>
          </c:layout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900" b="0" i="0" u="none" strike="noStrike" kern="1200" baseline="0">
                  <a:solidFill>
                    <a:schemeClr val="bg1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>
              <c15:layout>
                <c:manualLayout>
                  <c:w val="0.29654893185403519"/>
                  <c:h val="0.12316975540314982"/>
                </c:manualLayout>
              </c15:layout>
            </c:ext>
          </c:extLst>
        </c:dLbl>
      </c:pivotFmt>
      <c:pivotFmt>
        <c:idx val="44"/>
        <c:spPr>
          <a:solidFill>
            <a:schemeClr val="accent6"/>
          </a:solidFill>
          <a:ln>
            <a:noFill/>
          </a:ln>
          <a:effectLst/>
        </c:spPr>
      </c:pivotFmt>
      <c:pivotFmt>
        <c:idx val="45"/>
        <c:spPr>
          <a:solidFill>
            <a:schemeClr val="accent6"/>
          </a:solidFill>
          <a:ln>
            <a:noFill/>
          </a:ln>
          <a:effectLst/>
        </c:spPr>
      </c:pivotFmt>
      <c:pivotFmt>
        <c:idx val="46"/>
        <c:spPr>
          <a:solidFill>
            <a:schemeClr val="accent6"/>
          </a:solidFill>
          <a:ln>
            <a:noFill/>
          </a:ln>
          <a:effectLst/>
        </c:spPr>
      </c:pivotFmt>
      <c:pivotFmt>
        <c:idx val="47"/>
        <c:spPr>
          <a:solidFill>
            <a:schemeClr val="accent6"/>
          </a:solidFill>
          <a:ln>
            <a:noFill/>
          </a:ln>
          <a:effectLst/>
        </c:spPr>
      </c:pivotFmt>
      <c:pivotFmt>
        <c:idx val="48"/>
        <c:spPr>
          <a:solidFill>
            <a:schemeClr val="accent6"/>
          </a:solidFill>
          <a:ln>
            <a:noFill/>
          </a:ln>
          <a:effectLst/>
        </c:spPr>
      </c:pivotFmt>
      <c:pivotFmt>
        <c:idx val="49"/>
        <c:spPr>
          <a:solidFill>
            <a:schemeClr val="accent6"/>
          </a:solidFill>
          <a:ln>
            <a:noFill/>
          </a:ln>
          <a:effectLst/>
        </c:spPr>
      </c:pivotFmt>
      <c:pivotFmt>
        <c:idx val="50"/>
        <c:spPr>
          <a:solidFill>
            <a:schemeClr val="accent6"/>
          </a:solidFill>
          <a:ln>
            <a:noFill/>
          </a:ln>
          <a:effectLst/>
        </c:spPr>
        <c:dLbl>
          <c:idx val="0"/>
          <c:layout>
            <c:manualLayout>
              <c:x val="-2.4637870613083398E-3"/>
              <c:y val="-2.34947030141219E-2"/>
            </c:manualLayout>
          </c:layout>
          <c:tx>
            <c:rich>
              <a:bodyPr rot="0" spcFirstLastPara="1" vertOverflow="ellipsis" vert="horz" wrap="square" anchor="ctr" anchorCtr="1"/>
              <a:lstStyle/>
              <a:p>
                <a:pPr>
                  <a:defRPr sz="900" b="0" i="0" u="none" strike="noStrike" kern="1200" baseline="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pPr>
                <a:fld id="{7F36D417-4A96-4342-A694-2A5C643AA65F}" type="VALUE">
                  <a:rPr lang="en-US"/>
                  <a:pPr>
                    <a:defRPr sz="900" b="0" i="0" u="none" strike="noStrike" kern="1200" baseline="0">
                      <a:solidFill>
                        <a:schemeClr val="bg1"/>
                      </a:solidFill>
                      <a:latin typeface="+mn-lt"/>
                      <a:ea typeface="+mn-ea"/>
                      <a:cs typeface="+mn-cs"/>
                    </a:defRPr>
                  </a:pPr>
                  <a:t>[VALUE]</a:t>
                </a:fld>
                <a:endParaRPr lang="en-US"/>
              </a:p>
            </c:rich>
          </c:tx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900" b="0" i="0" u="none" strike="noStrike" kern="1200" baseline="0">
                  <a:solidFill>
                    <a:schemeClr val="bg1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>
              <c15:layout>
                <c:manualLayout>
                  <c:w val="0.30635842782468531"/>
                  <c:h val="0.14666422472182408"/>
                </c:manualLayout>
              </c15:layout>
              <c15:dlblFieldTable/>
              <c15:showDataLabelsRange val="0"/>
            </c:ext>
          </c:extLst>
        </c:dLbl>
      </c:pivotFmt>
    </c:pivotFmts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'Pivot Table'!$B$3</c:f>
              <c:strCache>
                <c:ptCount val="1"/>
                <c:pt idx="0">
                  <c:v>Total</c:v>
                </c:pt>
              </c:strCache>
            </c:strRef>
          </c:tx>
          <c:spPr>
            <a:solidFill>
              <a:schemeClr val="accent6"/>
            </a:solidFill>
            <a:ln>
              <a:noFill/>
            </a:ln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FBF5-4FB2-A16C-5121AD8C558B}"/>
              </c:ext>
            </c:extLst>
          </c:dPt>
          <c:dPt>
            <c:idx val="1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3-FBF5-4FB2-A16C-5121AD8C558B}"/>
              </c:ext>
            </c:extLst>
          </c:dPt>
          <c:dPt>
            <c:idx val="2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5-FBF5-4FB2-A16C-5121AD8C558B}"/>
              </c:ext>
            </c:extLst>
          </c:dPt>
          <c:dPt>
            <c:idx val="3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7-FBF5-4FB2-A16C-5121AD8C558B}"/>
              </c:ext>
            </c:extLst>
          </c:dPt>
          <c:dPt>
            <c:idx val="4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9-FBF5-4FB2-A16C-5121AD8C558B}"/>
              </c:ext>
            </c:extLst>
          </c:dPt>
          <c:dPt>
            <c:idx val="5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B-FBF5-4FB2-A16C-5121AD8C558B}"/>
              </c:ext>
            </c:extLst>
          </c:dPt>
          <c:dPt>
            <c:idx val="6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D-FBF5-4FB2-A16C-5121AD8C558B}"/>
              </c:ext>
            </c:extLst>
          </c:dPt>
          <c:dPt>
            <c:idx val="7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F-FBF5-4FB2-A16C-5121AD8C558B}"/>
              </c:ext>
            </c:extLst>
          </c:dPt>
          <c:dLbls>
            <c:dLbl>
              <c:idx val="0"/>
              <c:layout>
                <c:manualLayout>
                  <c:x val="9.5418199574947172E-3"/>
                  <c:y val="2.209291559310237E-2"/>
                </c:manualLayout>
              </c:layout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anchor="ctr" anchorCtr="1"/>
                <a:lstStyle/>
                <a:p>
                  <a:pPr>
                    <a:defRPr sz="1050" b="0" i="0" u="none" strike="noStrike" kern="1200" baseline="0">
                      <a:solidFill>
                        <a:schemeClr val="bg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FBF5-4FB2-A16C-5121AD8C558B}"/>
                </c:ext>
              </c:extLst>
            </c:dLbl>
            <c:dLbl>
              <c:idx val="7"/>
              <c:layout>
                <c:manualLayout>
                  <c:x val="-2.4637512277138718E-3"/>
                  <c:y val="2.1107950282399292E-2"/>
                </c:manualLayout>
              </c:layout>
              <c:tx>
                <c:rich>
                  <a:bodyPr rot="0" spcFirstLastPara="1" vertOverflow="ellipsis" vert="horz" wrap="square" anchor="ctr" anchorCtr="1"/>
                  <a:lstStyle/>
                  <a:p>
                    <a:pPr>
                      <a:defRPr sz="1050" b="0" i="0" u="none" strike="noStrike" kern="1200" baseline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defRPr>
                    </a:pPr>
                    <a:fld id="{7F36D417-4A96-4342-A694-2A5C643AA65F}" type="VALUE">
                      <a:rPr lang="en-US" sz="1050"/>
                      <a:pPr>
                        <a:defRPr sz="1050"/>
                      </a:pPr>
                      <a:t>[VALUE]</a:t>
                    </a:fld>
                    <a:endParaRPr lang="en-US"/>
                  </a:p>
                </c:rich>
              </c:tx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anchor="ctr" anchorCtr="1"/>
                <a:lstStyle/>
                <a:p>
                  <a:pPr>
                    <a:defRPr sz="1050" b="0" i="0" u="none" strike="noStrike" kern="1200" baseline="0">
                      <a:solidFill>
                        <a:schemeClr val="bg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0"/>
                </c:ext>
                <c:ext xmlns:c16="http://schemas.microsoft.com/office/drawing/2014/chart" uri="{C3380CC4-5D6E-409C-BE32-E72D297353CC}">
                  <c16:uniqueId val="{0000000F-FBF5-4FB2-A16C-5121AD8C558B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1197" b="0" i="0" u="none" strike="noStrike" kern="1200" baseline="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'Pivot Table'!$A$4:$A$12</c:f>
              <c:strCache>
                <c:ptCount val="8"/>
                <c:pt idx="0">
                  <c:v>Energy</c:v>
                </c:pt>
                <c:pt idx="1">
                  <c:v>Manufacturing</c:v>
                </c:pt>
                <c:pt idx="2">
                  <c:v>Finance</c:v>
                </c:pt>
                <c:pt idx="3">
                  <c:v>Retail</c:v>
                </c:pt>
                <c:pt idx="4">
                  <c:v>Transportation</c:v>
                </c:pt>
                <c:pt idx="5">
                  <c:v>Healthcare</c:v>
                </c:pt>
                <c:pt idx="6">
                  <c:v>Technology</c:v>
                </c:pt>
                <c:pt idx="7">
                  <c:v>Education</c:v>
                </c:pt>
              </c:strCache>
            </c:strRef>
          </c:cat>
          <c:val>
            <c:numRef>
              <c:f>'Pivot Table'!$B$4:$B$12</c:f>
              <c:numCache>
                <c:formatCode>General</c:formatCode>
                <c:ptCount val="8"/>
                <c:pt idx="0">
                  <c:v>47.020781914893597</c:v>
                </c:pt>
                <c:pt idx="1">
                  <c:v>46.876564215148264</c:v>
                </c:pt>
                <c:pt idx="2">
                  <c:v>46.407924819773491</c:v>
                </c:pt>
                <c:pt idx="3">
                  <c:v>46.129989276139398</c:v>
                </c:pt>
                <c:pt idx="4">
                  <c:v>45.872329127234465</c:v>
                </c:pt>
                <c:pt idx="5">
                  <c:v>45.760879530916831</c:v>
                </c:pt>
                <c:pt idx="6">
                  <c:v>45.746993154291737</c:v>
                </c:pt>
                <c:pt idx="7">
                  <c:v>45.595534729878615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10-FBF5-4FB2-A16C-5121AD8C558B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89"/>
        <c:overlap val="-27"/>
        <c:axId val="2113893408"/>
        <c:axId val="2113892928"/>
      </c:barChart>
      <c:catAx>
        <c:axId val="2113893408"/>
        <c:scaling>
          <c:orientation val="minMax"/>
        </c:scaling>
        <c:delete val="0"/>
        <c:axPos val="b"/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1330" b="0" i="0" u="none" strike="noStrike" kern="1200" baseline="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/>
                  <a:t>Industry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330" b="0" i="0" u="none" strike="noStrike" kern="1200" baseline="0">
                  <a:solidFill>
                    <a:schemeClr val="bg1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2113892928"/>
        <c:crosses val="autoZero"/>
        <c:auto val="1"/>
        <c:lblAlgn val="ctr"/>
        <c:lblOffset val="100"/>
        <c:noMultiLvlLbl val="0"/>
      </c:catAx>
      <c:valAx>
        <c:axId val="2113892928"/>
        <c:scaling>
          <c:orientation val="minMax"/>
        </c:scaling>
        <c:delete val="0"/>
        <c:axPos val="l"/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330" b="0" i="0" u="none" strike="noStrike" kern="1200" baseline="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/>
                  <a:t>Average Automation Risk (%)</a:t>
                </a:r>
              </a:p>
            </c:rich>
          </c:tx>
          <c:layout>
            <c:manualLayout>
              <c:xMode val="edge"/>
              <c:yMode val="edge"/>
              <c:x val="1.3888888888888888E-2"/>
              <c:y val="0.14754410906969961"/>
            </c:manualLayout>
          </c:layout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330" b="0" i="0" u="none" strike="noStrike" kern="1200" baseline="0">
                  <a:solidFill>
                    <a:schemeClr val="bg1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2113893408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>
          <a:solidFill>
            <a:schemeClr val="bg1"/>
          </a:solidFill>
        </a:defRPr>
      </a:pPr>
      <a:endParaRPr lang="en-US"/>
    </a:p>
  </c:txPr>
  <c:externalData r:id="rId3">
    <c:autoUpdate val="0"/>
  </c:externalData>
  <c:extLst>
    <c:ext xmlns:c14="http://schemas.microsoft.com/office/drawing/2007/8/2/chart" uri="{781A3756-C4B2-4CAC-9D66-4F8BD8637D16}">
      <c14:pivotOptions>
        <c14:dropZoneFilter val="1"/>
        <c14:dropZonesVisible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olors1.xml><?xml version="1.0" encoding="utf-8"?>
<cs:colorStyle xmlns:cs="http://schemas.microsoft.com/office/drawing/2012/chartStyle" xmlns:a="http://schemas.openxmlformats.org/drawingml/2006/main" meth="withinLinearReversed" id="26">
  <a:schemeClr val="accent6"/>
</cs:colorStyle>
</file>

<file path=ppt/charts/colors2.xml><?xml version="1.0" encoding="utf-8"?>
<cs:colorStyle xmlns:cs="http://schemas.microsoft.com/office/drawing/2012/chartStyle" xmlns:a="http://schemas.openxmlformats.org/drawingml/2006/main" meth="withinLinearReversed" id="26">
  <a:schemeClr val="accent6"/>
</cs:colorStyle>
</file>

<file path=ppt/charts/style1.xml><?xml version="1.0" encoding="utf-8"?>
<cs:chartStyle xmlns:cs="http://schemas.microsoft.com/office/drawing/2012/chartStyle" xmlns:a="http://schemas.openxmlformats.org/drawingml/2006/main" id="344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12700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2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3">
      <cs:styleClr val="auto"/>
    </cs:fillRef>
    <cs:effectRef idx="3"/>
    <cs:fontRef idx="minor">
      <a:schemeClr val="tx1"/>
    </cs:fontRef>
  </cs:dataPoint>
  <cs:dataPoint3D>
    <cs:lnRef idx="0"/>
    <cs:fillRef idx="3">
      <cs:styleClr val="auto"/>
    </cs:fillRef>
    <cs:effectRef idx="3"/>
    <cs:fontRef idx="minor">
      <a:schemeClr val="tx1"/>
    </cs:fontRef>
  </cs:dataPoint3D>
  <cs:dataPointLine>
    <cs:lnRef idx="0">
      <cs:styleClr val="auto"/>
    </cs:lnRef>
    <cs:fillRef idx="3"/>
    <cs:effectRef idx="3"/>
    <cs:fontRef idx="minor">
      <a:schemeClr val="tx1"/>
    </cs:fontRef>
    <cs:spPr>
      <a:ln w="3492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3">
      <cs:styleClr val="auto"/>
    </cs:fillRef>
    <cs:effectRef idx="3"/>
    <cs:fontRef idx="minor">
      <a:schemeClr val="tx1"/>
    </cs:fontRef>
    <cs:spPr>
      <a:ln w="9525">
        <a:solidFill>
          <a:schemeClr val="phClr"/>
        </a:solidFill>
        <a:round/>
      </a:ln>
    </cs:spPr>
  </cs:dataPointMarker>
  <cs:dataPointMarkerLayout symbol="circle" size="6"/>
  <cs:dataPointWireframe>
    <cs:lnRef idx="0">
      <cs:styleClr val="auto"/>
    </cs:lnRef>
    <cs:fillRef idx="3"/>
    <cs:effectRef idx="3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lt1"/>
    </cs:fontRef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>
    <cs:lnRef idx="0"/>
    <cs:fillRef idx="0"/>
    <cs:effectRef idx="0"/>
    <cs:fontRef idx="minor">
      <a:schemeClr val="lt1"/>
    </cs:fontRef>
  </cs:plotArea>
  <cs:plotArea3D>
    <cs:lnRef idx="0"/>
    <cs:fillRef idx="0"/>
    <cs:effectRef idx="0"/>
    <cs:fontRef idx="minor">
      <a:schemeClr val="lt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spPr>
      <a:ln w="12700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2128" b="1" kern="1200" baseline="0"/>
  </cs:title>
  <cs:trendline>
    <cs:lnRef idx="0">
      <cs:styleClr val="auto"/>
    </cs:lnRef>
    <cs:fillRef idx="0"/>
    <cs:effectRef idx="0"/>
    <cs:fontRef idx="minor">
      <a:schemeClr val="lt1"/>
    </cs:fontRef>
    <cs:spPr>
      <a:ln w="19050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lt1"/>
    </cs:fontRef>
  </cs:wall>
</cs:chartStyle>
</file>

<file path=ppt/charts/style2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22868B-097F-205A-0DAD-87A42074AF5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0685B04-DF1B-8258-FDD7-767ABA75FE3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A65683E-3724-B38B-016F-5E9AA90CF6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704BC1-FF21-40C6-87F1-1D78C8A5FEA7}" type="datetimeFigureOut">
              <a:rPr lang="en-US" smtClean="0"/>
              <a:t>5/2/2026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4A0E8FA-C8DE-50EE-DC11-4CE6956473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C611794-74CD-10F4-930E-D52494FF1A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211994-BD1D-4D03-B3FC-D1F2EE7AE7C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107499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74FDE6-FDC9-AC73-5A3C-E7BE6575B0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35A019D-D98A-8D90-29BA-B551714992D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70246AF-B394-E229-2E71-A53F003C35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704BC1-FF21-40C6-87F1-1D78C8A5FEA7}" type="datetimeFigureOut">
              <a:rPr lang="en-US" smtClean="0"/>
              <a:t>5/2/2026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CFFE425-1FA8-62E7-7034-585A3F600F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216B1F2-3796-EB28-6BF0-F60B4891D9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211994-BD1D-4D03-B3FC-D1F2EE7AE7C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865979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F801F5-421B-5D46-900D-99539F48B8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75994AA-D064-369C-F9BD-DDE1A2B4D50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F056372-A110-CFD6-87AE-600F637DAC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704BC1-FF21-40C6-87F1-1D78C8A5FEA7}" type="datetimeFigureOut">
              <a:rPr lang="en-US" smtClean="0"/>
              <a:t>5/2/2026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5CCA443-46FA-65D3-ACE9-9912EDB798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7C39874-31E7-3B56-721B-8836CEBCCF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211994-BD1D-4D03-B3FC-D1F2EE7AE7C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228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2B0086-5ADA-4818-9367-0B67697338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3311DED-1C16-2AFC-A52F-10EC07825D2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113D865-A9D9-AFBE-2277-F2688CB2876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6AADCF9-A559-A7E8-40FC-D204AEEAF6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704BC1-FF21-40C6-87F1-1D78C8A5FEA7}" type="datetimeFigureOut">
              <a:rPr lang="en-US" smtClean="0"/>
              <a:t>5/2/2026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523CA78-DDAC-C089-4471-A51F896C04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4430031-9A2C-FCF1-ABE4-580FC0054F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211994-BD1D-4D03-B3FC-D1F2EE7AE7C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861759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A1CACC-1AAA-0588-4C34-038C92D506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8183FCC-98DF-C4CB-F0A3-1A49888D287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B49695C-ADD5-678F-8F7C-2FF3E28CA26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B823F45-7C64-B28B-4346-9508B9CCA66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5F99F05-56AE-8BB8-D67E-63FA0598866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EE29195-2E32-90F3-4BAF-4D9A81C9AC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704BC1-FF21-40C6-87F1-1D78C8A5FEA7}" type="datetimeFigureOut">
              <a:rPr lang="en-US" smtClean="0"/>
              <a:t>5/2/2026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EE49BE4-7F65-CE9E-1740-CE438B994C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D8356C3-7E10-2C8C-510F-EC9F684D5C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211994-BD1D-4D03-B3FC-D1F2EE7AE7C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773750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9D9497-03C3-8FD8-8CBA-FF3F68F67D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0DF5D6B-679B-F082-204F-4A1C1766FE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704BC1-FF21-40C6-87F1-1D78C8A5FEA7}" type="datetimeFigureOut">
              <a:rPr lang="en-US" smtClean="0"/>
              <a:t>5/2/2026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2D060C4-A14F-BA4C-3B6F-19D774C5E2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B79657C-F9AA-56B1-7F61-67AD5AA991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211994-BD1D-4D03-B3FC-D1F2EE7AE7C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490853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70D94A6-7D13-784D-CDBE-B4E2AE119F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704BC1-FF21-40C6-87F1-1D78C8A5FEA7}" type="datetimeFigureOut">
              <a:rPr lang="en-US" smtClean="0"/>
              <a:t>5/2/2026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DD1ED12-52D3-05DF-F917-7A993C4FF2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3F1DE7C-89C8-2EEE-420B-D050CAC090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211994-BD1D-4D03-B3FC-D1F2EE7AE7C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144140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350AD1-325B-6047-2E2D-9EFAC44A3B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5E50143-42D8-EFF8-AC2E-3268C007254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B927753-5A53-F1FF-0B78-0E61BEED6A2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F20A686-26EA-84A5-B4C5-1B48BFB34B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704BC1-FF21-40C6-87F1-1D78C8A5FEA7}" type="datetimeFigureOut">
              <a:rPr lang="en-US" smtClean="0"/>
              <a:t>5/2/2026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CB41F4F-459F-6394-7FAD-81094019FE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258E795-165E-9689-B773-D6E215EAF2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211994-BD1D-4D03-B3FC-D1F2EE7AE7C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41032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B7A904-2544-490F-1DAD-AD07ECED86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F664A43-A219-A223-FE90-806114CF4AC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368BABF-5F97-83AC-9826-7E86B2CFEA0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65B84FA-355F-2E2B-F117-59C593A64E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704BC1-FF21-40C6-87F1-1D78C8A5FEA7}" type="datetimeFigureOut">
              <a:rPr lang="en-US" smtClean="0"/>
              <a:t>5/2/2026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96B1C7B-B4DD-0106-171F-9CEFC81498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C029837-79DA-25F6-AFFC-06994351B5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211994-BD1D-4D03-B3FC-D1F2EE7AE7C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175485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BA05E0-590B-D8C5-1C1A-FB3DB77E30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7BE7685-D684-E875-1FF3-B3B1B87F165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84A949A-25C5-4771-FC4D-7C3AC74866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704BC1-FF21-40C6-87F1-1D78C8A5FEA7}" type="datetimeFigureOut">
              <a:rPr lang="en-US" smtClean="0"/>
              <a:t>5/2/2026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A1A0D72-3B61-386E-4024-55F576A320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EF9B8B6-F4DB-AA5C-BCD1-7EC964DDB2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211994-BD1D-4D03-B3FC-D1F2EE7AE7C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949518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8BA858F-82FC-11EF-9D19-EAE2FBB2118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2BFDFE7-A06A-DF58-5399-64AFAC9DCA6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2FAAB35-FD77-A75A-65FD-3CA1308EED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704BC1-FF21-40C6-87F1-1D78C8A5FEA7}" type="datetimeFigureOut">
              <a:rPr lang="en-US" smtClean="0"/>
              <a:t>5/2/2026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F7A5C94-22B7-2C4D-5EA9-AE0FBB267D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0A76E54-DDD4-2BD1-7A72-AF640A1AB8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211994-BD1D-4D03-B3FC-D1F2EE7AE7C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55135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385C20F-DF88-C25C-9E6B-3CB31C5A9F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E29E64E-A20A-FC26-D1C1-D2BAB3399BE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1C3A7BC-B5A2-05EF-9C9B-5B3D59A835A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0704BC1-FF21-40C6-87F1-1D78C8A5FEA7}" type="datetimeFigureOut">
              <a:rPr lang="en-US" smtClean="0"/>
              <a:t>5/2/2026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238CA35-3345-53C6-DBA2-605442667E1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C121BB2-39A4-09BE-3D9D-211A79DE228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9211994-BD1D-4D03-B3FC-D1F2EE7AE7C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783842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4" Type="http://schemas.openxmlformats.org/officeDocument/2006/relationships/image" Target="../media/image6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4B91F7-37A2-443A-73FD-66C59AE5293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32387" y="569373"/>
            <a:ext cx="10127226" cy="2686588"/>
          </a:xfrm>
        </p:spPr>
        <p:txBody>
          <a:bodyPr>
            <a:normAutofit/>
          </a:bodyPr>
          <a:lstStyle/>
          <a:p>
            <a:pPr>
              <a:lnSpc>
                <a:spcPct val="100000"/>
              </a:lnSpc>
            </a:pPr>
            <a:r>
              <a:rPr lang="en-US" sz="8000" b="1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AI Job Automation Risk Analysis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72E277E-C645-73CB-375D-E7886C0625C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750142" y="3602038"/>
            <a:ext cx="9144000" cy="2686589"/>
          </a:xfrm>
        </p:spPr>
        <p:txBody>
          <a:bodyPr>
            <a:normAutofit/>
          </a:bodyPr>
          <a:lstStyle/>
          <a:p>
            <a:r>
              <a:rPr lang="en-US" sz="4400" b="1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Workforce Skill Shift Study</a:t>
            </a:r>
          </a:p>
          <a:p>
            <a:endParaRPr lang="en-US" sz="4400" b="1" dirty="0">
              <a:solidFill>
                <a:schemeClr val="bg1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algn="l"/>
            <a:r>
              <a:rPr lang="en-US" sz="2800" b="1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Name: Rableen Kaur Kapoor</a:t>
            </a:r>
            <a:br>
              <a:rPr lang="en-US" sz="2800" b="1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</a:br>
            <a:endParaRPr lang="en-US" sz="2800" b="1" dirty="0">
              <a:solidFill>
                <a:schemeClr val="bg1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0756243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E7E7AD-1DC7-6DB2-589F-07A07F9420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sz="4800" b="1" dirty="0">
                <a:solidFill>
                  <a:schemeClr val="bg1"/>
                </a:solidFill>
              </a:rPr>
              <a:t>OBJECTIVE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A9B30D9-7F74-F402-932E-BC3E497EB33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sz="4800" dirty="0">
                <a:solidFill>
                  <a:schemeClr val="bg1"/>
                </a:solidFill>
              </a:rPr>
              <a:t>Analyze automation risk across industries</a:t>
            </a:r>
          </a:p>
          <a:p>
            <a:pPr marL="0" indent="0">
              <a:buNone/>
            </a:pPr>
            <a:r>
              <a:rPr lang="en-US" sz="4800" dirty="0">
                <a:solidFill>
                  <a:schemeClr val="bg1"/>
                </a:solidFill>
              </a:rPr>
              <a:t>Understand AI impact on workforce</a:t>
            </a:r>
          </a:p>
          <a:p>
            <a:pPr marL="0" indent="0">
              <a:buNone/>
            </a:pPr>
            <a:r>
              <a:rPr lang="en-US" sz="4800" dirty="0">
                <a:solidFill>
                  <a:schemeClr val="bg1"/>
                </a:solidFill>
              </a:rPr>
              <a:t>Identify key relationships in data</a:t>
            </a:r>
          </a:p>
          <a:p>
            <a:pPr marL="0" indent="0">
              <a:buNone/>
            </a:pPr>
            <a:r>
              <a:rPr lang="en-US" sz="4800" dirty="0">
                <a:solidFill>
                  <a:schemeClr val="bg1"/>
                </a:solidFill>
              </a:rPr>
              <a:t>Derive meaningful insights</a:t>
            </a:r>
          </a:p>
        </p:txBody>
      </p:sp>
    </p:spTree>
    <p:extLst>
      <p:ext uri="{BB962C8B-B14F-4D97-AF65-F5344CB8AC3E}">
        <p14:creationId xmlns:p14="http://schemas.microsoft.com/office/powerpoint/2010/main" val="362644400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7CD7531-C0BA-B8E0-68C6-5ED679FA21C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sz="4800" dirty="0">
                <a:solidFill>
                  <a:schemeClr val="bg1"/>
                </a:solidFill>
              </a:rPr>
              <a:t>15,000+ records </a:t>
            </a:r>
          </a:p>
          <a:p>
            <a:pPr marL="0" indent="0">
              <a:buNone/>
            </a:pPr>
            <a:r>
              <a:rPr lang="en-US" sz="4800" dirty="0">
                <a:solidFill>
                  <a:schemeClr val="bg1"/>
                </a:solidFill>
              </a:rPr>
              <a:t>20+ variables</a:t>
            </a:r>
          </a:p>
          <a:p>
            <a:pPr marL="0" indent="0">
              <a:buNone/>
            </a:pPr>
            <a:r>
              <a:rPr lang="en-US" sz="4800" dirty="0">
                <a:solidFill>
                  <a:schemeClr val="bg1"/>
                </a:solidFill>
              </a:rPr>
              <a:t>Mixed dataset (Categorical &amp; Numerical)</a:t>
            </a:r>
          </a:p>
          <a:p>
            <a:pPr marL="0" indent="0">
              <a:buNone/>
            </a:pPr>
            <a:r>
              <a:rPr lang="en-US" sz="4800" dirty="0">
                <a:solidFill>
                  <a:schemeClr val="bg1"/>
                </a:solidFill>
              </a:rPr>
              <a:t>Covers industries, job roles, AI impact</a:t>
            </a: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C8F47132-65E0-B178-DA3E-2B5D3423E9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4800" b="1" dirty="0">
                <a:solidFill>
                  <a:schemeClr val="bg1"/>
                </a:solidFill>
              </a:rPr>
              <a:t>DATASET OVERVIEW</a:t>
            </a:r>
          </a:p>
        </p:txBody>
      </p:sp>
    </p:spTree>
    <p:extLst>
      <p:ext uri="{BB962C8B-B14F-4D97-AF65-F5344CB8AC3E}">
        <p14:creationId xmlns:p14="http://schemas.microsoft.com/office/powerpoint/2010/main" val="411822755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11A39D-0FD5-4F62-8946-849B0EE69D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68336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en-US" sz="4800" b="1" dirty="0">
                <a:solidFill>
                  <a:schemeClr val="bg1"/>
                </a:solidFill>
              </a:rPr>
              <a:t>EXCEL-BASED ANALYSIS</a:t>
            </a:r>
            <a:endParaRPr lang="en-US" sz="48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79220B4-AA61-E802-9E81-FCE1AF5755A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304800" y="1825625"/>
            <a:ext cx="5715000" cy="4351338"/>
          </a:xfrm>
        </p:spPr>
        <p:txBody>
          <a:bodyPr/>
          <a:lstStyle/>
          <a:p>
            <a:pPr marL="0" indent="0" algn="ctr">
              <a:buNone/>
            </a:pPr>
            <a:r>
              <a:rPr lang="en-US" b="1" dirty="0">
                <a:solidFill>
                  <a:schemeClr val="bg1"/>
                </a:solidFill>
              </a:rPr>
              <a:t>PIE CHART</a:t>
            </a:r>
          </a:p>
          <a:p>
            <a:pPr marL="0" indent="0" algn="ctr">
              <a:buNone/>
            </a:pPr>
            <a:r>
              <a:rPr lang="en-US" b="1" dirty="0">
                <a:solidFill>
                  <a:schemeClr val="bg1"/>
                </a:solidFill>
              </a:rPr>
              <a:t>Top 5 Industries at Automation Risk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5218474-FAFB-9C17-CF0E-6405C24C75A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199" y="1825625"/>
            <a:ext cx="5714999" cy="4351338"/>
          </a:xfrm>
        </p:spPr>
        <p:txBody>
          <a:bodyPr/>
          <a:lstStyle/>
          <a:p>
            <a:pPr marL="0" indent="0" algn="ctr">
              <a:buNone/>
            </a:pPr>
            <a:r>
              <a:rPr lang="en-US" b="1" dirty="0">
                <a:solidFill>
                  <a:schemeClr val="bg1"/>
                </a:solidFill>
              </a:rPr>
              <a:t>BAR CHART</a:t>
            </a:r>
          </a:p>
          <a:p>
            <a:pPr marL="0" indent="0" algn="ctr">
              <a:buNone/>
            </a:pPr>
            <a:r>
              <a:rPr lang="en-US" b="1" dirty="0">
                <a:solidFill>
                  <a:schemeClr val="bg1"/>
                </a:solidFill>
              </a:rPr>
              <a:t>Average Automation Risk by Industry</a:t>
            </a:r>
          </a:p>
        </p:txBody>
      </p:sp>
      <p:graphicFrame>
        <p:nvGraphicFramePr>
          <p:cNvPr id="7" name="Chart 6">
            <a:extLst>
              <a:ext uri="{FF2B5EF4-FFF2-40B4-BE49-F238E27FC236}">
                <a16:creationId xmlns:a16="http://schemas.microsoft.com/office/drawing/2014/main" id="{6C95B748-ECF9-7565-E375-254D84DE3A02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790326501"/>
              </p:ext>
            </p:extLst>
          </p:nvPr>
        </p:nvGraphicFramePr>
        <p:xfrm>
          <a:off x="573881" y="2767061"/>
          <a:ext cx="5176837" cy="364162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9" name="Chart 8">
            <a:extLst>
              <a:ext uri="{FF2B5EF4-FFF2-40B4-BE49-F238E27FC236}">
                <a16:creationId xmlns:a16="http://schemas.microsoft.com/office/drawing/2014/main" id="{9EF5FAA9-9396-4CA3-A1DB-D47C3CA9B732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699625218"/>
              </p:ext>
            </p:extLst>
          </p:nvPr>
        </p:nvGraphicFramePr>
        <p:xfrm>
          <a:off x="6619875" y="3191069"/>
          <a:ext cx="4505325" cy="330180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  <p:extLst>
      <p:ext uri="{BB962C8B-B14F-4D97-AF65-F5344CB8AC3E}">
        <p14:creationId xmlns:p14="http://schemas.microsoft.com/office/powerpoint/2010/main" val="276165902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692E67-9527-94B5-3E6A-319E597035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1074867"/>
          </a:xfrm>
        </p:spPr>
        <p:txBody>
          <a:bodyPr>
            <a:normAutofit/>
          </a:bodyPr>
          <a:lstStyle/>
          <a:p>
            <a:pPr algn="ctr"/>
            <a:r>
              <a:rPr lang="en-US" sz="4800" b="1" dirty="0">
                <a:solidFill>
                  <a:schemeClr val="bg1"/>
                </a:solidFill>
              </a:rPr>
              <a:t>EXCEL DASHBOARD</a:t>
            </a:r>
            <a:endParaRPr lang="en-US" sz="4800" dirty="0">
              <a:solidFill>
                <a:schemeClr val="bg1"/>
              </a:solidFill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2A93B605-AE81-E01A-49EB-637D90DBE9F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57218" y="933061"/>
            <a:ext cx="8677563" cy="5597565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64170334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0D02AD-6C2D-FF70-7AE7-41245D8922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77588"/>
            <a:ext cx="10515600" cy="1205496"/>
          </a:xfrm>
        </p:spPr>
        <p:txBody>
          <a:bodyPr>
            <a:normAutofit/>
          </a:bodyPr>
          <a:lstStyle/>
          <a:p>
            <a:pPr algn="ctr"/>
            <a:r>
              <a:rPr lang="en-US" sz="4800" b="1" dirty="0">
                <a:solidFill>
                  <a:schemeClr val="bg1"/>
                </a:solidFill>
              </a:rPr>
              <a:t>TABLEAU-BASED ANALYSIS</a:t>
            </a:r>
            <a:endParaRPr lang="en-US" sz="48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EA721DA-709B-0106-AD59-16B9E02376B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03853" y="1614196"/>
            <a:ext cx="5515947" cy="4562767"/>
          </a:xfrm>
        </p:spPr>
        <p:txBody>
          <a:bodyPr/>
          <a:lstStyle/>
          <a:p>
            <a:pPr marL="0" indent="0" algn="ctr">
              <a:buNone/>
            </a:pPr>
            <a:r>
              <a:rPr lang="en-US" b="1" dirty="0">
                <a:solidFill>
                  <a:schemeClr val="bg1"/>
                </a:solidFill>
              </a:rPr>
              <a:t>LINE CHART</a:t>
            </a:r>
          </a:p>
          <a:p>
            <a:pPr marL="0" indent="0" algn="ctr">
              <a:buNone/>
            </a:pPr>
            <a:r>
              <a:rPr lang="en-US" b="1" dirty="0">
                <a:solidFill>
                  <a:schemeClr val="bg1"/>
                </a:solidFill>
              </a:rPr>
              <a:t>Automation Risk Trend and Forecast</a:t>
            </a:r>
          </a:p>
          <a:p>
            <a:pPr marL="0" indent="0" algn="ctr">
              <a:buNone/>
            </a:pPr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578AD54-CDA3-B319-772C-3960CF3E49B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614196"/>
            <a:ext cx="5649686" cy="4562767"/>
          </a:xfrm>
        </p:spPr>
        <p:txBody>
          <a:bodyPr/>
          <a:lstStyle/>
          <a:p>
            <a:pPr marL="0" indent="0" algn="ctr">
              <a:buNone/>
            </a:pPr>
            <a:r>
              <a:rPr lang="en-US" b="1" dirty="0">
                <a:solidFill>
                  <a:schemeClr val="bg1"/>
                </a:solidFill>
              </a:rPr>
              <a:t>HISTOGRAM</a:t>
            </a:r>
          </a:p>
          <a:p>
            <a:pPr marL="0" indent="0" algn="ctr">
              <a:buNone/>
            </a:pPr>
            <a:r>
              <a:rPr lang="en-US" b="1" dirty="0">
                <a:solidFill>
                  <a:schemeClr val="bg1"/>
                </a:solidFill>
              </a:rPr>
              <a:t>Distribution of Automation Risk %</a:t>
            </a:r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44EEC66E-208A-DE5F-7136-74D7EEEA78EC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3525"/>
          <a:stretch>
            <a:fillRect/>
          </a:stretch>
        </p:blipFill>
        <p:spPr>
          <a:xfrm>
            <a:off x="6172200" y="2773345"/>
            <a:ext cx="5649686" cy="3634729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E4B313DE-AE35-869D-B1C9-0DDF0292AC8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3853" y="2773345"/>
            <a:ext cx="5527767" cy="36347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609282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FDEA0B-64E5-B8AA-6779-CF408730A8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1061741"/>
          </a:xfrm>
        </p:spPr>
        <p:txBody>
          <a:bodyPr>
            <a:normAutofit/>
          </a:bodyPr>
          <a:lstStyle/>
          <a:p>
            <a:pPr algn="ctr"/>
            <a:r>
              <a:rPr lang="en-US" sz="4800" b="1" dirty="0">
                <a:solidFill>
                  <a:schemeClr val="bg1"/>
                </a:solidFill>
              </a:rPr>
              <a:t>TABLEAU DASHBOARD</a:t>
            </a:r>
            <a:endParaRPr lang="en-US" sz="48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4032057-336A-5341-610D-30AC7F35B22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897513"/>
            <a:ext cx="10515600" cy="58597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1733916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FFE304-F838-5AE3-0CB0-654F024557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93821"/>
            <a:ext cx="10515600" cy="830628"/>
          </a:xfrm>
        </p:spPr>
        <p:txBody>
          <a:bodyPr>
            <a:normAutofit/>
          </a:bodyPr>
          <a:lstStyle/>
          <a:p>
            <a:pPr algn="ctr"/>
            <a:r>
              <a:rPr lang="en-US" sz="4800" b="1" dirty="0">
                <a:solidFill>
                  <a:schemeClr val="bg1"/>
                </a:solidFill>
              </a:rPr>
              <a:t>POWER BI DASHBOARD</a:t>
            </a:r>
            <a:endParaRPr lang="en-US" sz="4800" dirty="0">
              <a:solidFill>
                <a:schemeClr val="bg1"/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F6FBDFC-5520-1353-B498-96292739D0A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5627" y="924449"/>
            <a:ext cx="10400746" cy="58397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4056636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2FCA3D-EBB6-1F9C-019C-2FE3CFA559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54110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en-US" sz="4800" b="1" dirty="0">
                <a:solidFill>
                  <a:schemeClr val="bg1"/>
                </a:solidFill>
              </a:rPr>
              <a:t>PYTHON CODE</a:t>
            </a:r>
          </a:p>
        </p:txBody>
      </p:sp>
      <p:pic>
        <p:nvPicPr>
          <p:cNvPr id="7" name="Screen Recording 6">
            <a:hlinkClick r:id="" action="ppaction://media"/>
            <a:extLst>
              <a:ext uri="{FF2B5EF4-FFF2-40B4-BE49-F238E27FC236}">
                <a16:creationId xmlns:a16="http://schemas.microsoft.com/office/drawing/2014/main" id="{17354BE1-6633-6F14-D7CE-808BDB4BCBA8}"/>
              </a:ext>
            </a:extLst>
          </p:cNvPr>
          <p:cNvPicPr>
            <a:picLocks noGrp="1" noChangeAspect="1"/>
          </p:cNvPicPr>
          <p:nvPr>
            <p:ph idx="1"/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3290031" y="1557495"/>
            <a:ext cx="5611938" cy="4719952"/>
          </a:xfrm>
        </p:spPr>
      </p:pic>
    </p:spTree>
    <p:extLst>
      <p:ext uri="{BB962C8B-B14F-4D97-AF65-F5344CB8AC3E}">
        <p14:creationId xmlns:p14="http://schemas.microsoft.com/office/powerpoint/2010/main" val="233257935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15531"/>
    </mc:Choice>
    <mc:Fallback>
      <p:transition spd="slow" advTm="15531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7315" fill="hold"/>
                                        <p:tgtEl>
                                          <p:spTgt spid="7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7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7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"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B6BEDB-863E-C805-1442-BEA5EC33C4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397" y="104486"/>
            <a:ext cx="10515600" cy="1153101"/>
          </a:xfrm>
        </p:spPr>
        <p:txBody>
          <a:bodyPr>
            <a:normAutofit/>
          </a:bodyPr>
          <a:lstStyle/>
          <a:p>
            <a:pPr algn="ctr"/>
            <a:r>
              <a:rPr lang="en-US" sz="4800" b="1" dirty="0">
                <a:solidFill>
                  <a:schemeClr val="bg1"/>
                </a:solidFill>
              </a:rPr>
              <a:t>PYTHON-BASED ANALYSIS</a:t>
            </a:r>
            <a:endParaRPr lang="en-US" sz="48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40292FE-D094-13D5-5826-73239DA9882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391886" y="1313561"/>
            <a:ext cx="5627915" cy="4863402"/>
          </a:xfrm>
        </p:spPr>
        <p:txBody>
          <a:bodyPr/>
          <a:lstStyle/>
          <a:p>
            <a:pPr marL="0" indent="0" algn="ctr">
              <a:buNone/>
            </a:pPr>
            <a:r>
              <a:rPr lang="en-US" b="1" dirty="0">
                <a:solidFill>
                  <a:schemeClr val="bg1"/>
                </a:solidFill>
              </a:rPr>
              <a:t>SCATTER PLOT</a:t>
            </a:r>
            <a:br>
              <a:rPr lang="en-US" b="1" dirty="0">
                <a:solidFill>
                  <a:schemeClr val="bg1"/>
                </a:solidFill>
              </a:rPr>
            </a:br>
            <a:r>
              <a:rPr lang="en-US" b="1" dirty="0">
                <a:solidFill>
                  <a:schemeClr val="bg1"/>
                </a:solidFill>
              </a:rPr>
              <a:t>Skill Gap Index vs Reskilling Urgency</a:t>
            </a:r>
          </a:p>
          <a:p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643E512-049E-33D2-7D9A-619A69E01D2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199" y="1313561"/>
            <a:ext cx="5627915" cy="4863402"/>
          </a:xfrm>
        </p:spPr>
        <p:txBody>
          <a:bodyPr/>
          <a:lstStyle/>
          <a:p>
            <a:pPr marL="0" indent="0" algn="ctr">
              <a:buNone/>
            </a:pPr>
            <a:r>
              <a:rPr lang="en-US" b="1" dirty="0">
                <a:solidFill>
                  <a:schemeClr val="bg1"/>
                </a:solidFill>
              </a:rPr>
              <a:t>HEATMAP</a:t>
            </a:r>
            <a:br>
              <a:rPr lang="en-US" b="1" dirty="0">
                <a:solidFill>
                  <a:schemeClr val="bg1"/>
                </a:solidFill>
              </a:rPr>
            </a:br>
            <a:r>
              <a:rPr lang="en-US" b="1" dirty="0">
                <a:solidFill>
                  <a:schemeClr val="bg1"/>
                </a:solidFill>
              </a:rPr>
              <a:t>Correlation Map of Key Variables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13EF5971-42AE-079E-62F2-6AE146D4F9E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669" t="3277" r="5109"/>
          <a:stretch>
            <a:fillRect/>
          </a:stretch>
        </p:blipFill>
        <p:spPr>
          <a:xfrm>
            <a:off x="6373584" y="2413855"/>
            <a:ext cx="5225143" cy="3906558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F88C0EF6-B1D0-5206-599E-06CDC5370139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413" t="464" r="1630"/>
          <a:stretch>
            <a:fillRect/>
          </a:stretch>
        </p:blipFill>
        <p:spPr>
          <a:xfrm>
            <a:off x="424540" y="2413855"/>
            <a:ext cx="5747657" cy="39065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7438929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B798DD-E692-C255-ADFE-24552AFB27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386"/>
            <a:ext cx="10515600" cy="931112"/>
          </a:xfrm>
        </p:spPr>
        <p:txBody>
          <a:bodyPr>
            <a:normAutofit/>
          </a:bodyPr>
          <a:lstStyle/>
          <a:p>
            <a:pPr algn="ctr"/>
            <a:r>
              <a:rPr lang="en-US" sz="4800" b="1" dirty="0">
                <a:solidFill>
                  <a:schemeClr val="bg1"/>
                </a:solidFill>
              </a:rPr>
              <a:t>PYTHON DASHBOARD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0240735-9DA2-A150-D8A4-734B946A88F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31180" y="934498"/>
            <a:ext cx="7929639" cy="57310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8915363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C92952-E32A-A3E4-D343-1361DCA038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4800" b="1" dirty="0">
                <a:solidFill>
                  <a:schemeClr val="bg1"/>
                </a:solidFill>
              </a:rPr>
              <a:t>FINAL INSIGHTS</a:t>
            </a:r>
            <a:endParaRPr lang="en-US" sz="4800" dirty="0">
              <a:solidFill>
                <a:schemeClr val="bg1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CEA19BD-9152-BBD8-E063-62EC7C04D9E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 algn="ctr">
              <a:buNone/>
            </a:pPr>
            <a:r>
              <a:rPr lang="en-US" sz="4000" b="1" dirty="0">
                <a:solidFill>
                  <a:schemeClr val="bg1"/>
                </a:solidFill>
              </a:rPr>
              <a:t>Automation risk is widespread</a:t>
            </a:r>
            <a:br>
              <a:rPr lang="en-US" sz="4000" b="1" dirty="0">
                <a:solidFill>
                  <a:schemeClr val="bg1"/>
                </a:solidFill>
              </a:rPr>
            </a:br>
            <a:r>
              <a:rPr lang="en-US" sz="4000" b="1" dirty="0">
                <a:solidFill>
                  <a:schemeClr val="bg1"/>
                </a:solidFill>
              </a:rPr>
              <a:t>AI strongly impacts job roles</a:t>
            </a:r>
            <a:br>
              <a:rPr lang="en-US" sz="4000" b="1" dirty="0">
                <a:solidFill>
                  <a:schemeClr val="bg1"/>
                </a:solidFill>
              </a:rPr>
            </a:br>
            <a:r>
              <a:rPr lang="en-US" sz="4000" b="1" dirty="0">
                <a:solidFill>
                  <a:schemeClr val="bg1"/>
                </a:solidFill>
              </a:rPr>
              <a:t>Majority jobs fall in moderate risk</a:t>
            </a:r>
            <a:br>
              <a:rPr lang="en-US" sz="4000" b="1" dirty="0">
                <a:solidFill>
                  <a:schemeClr val="bg1"/>
                </a:solidFill>
              </a:rPr>
            </a:br>
            <a:r>
              <a:rPr lang="en-US" sz="4000" b="1" dirty="0">
                <a:solidFill>
                  <a:schemeClr val="bg1"/>
                </a:solidFill>
              </a:rPr>
              <a:t>Reskilling is essential</a:t>
            </a:r>
          </a:p>
          <a:p>
            <a:pPr marL="0" indent="0" algn="ctr">
              <a:buNone/>
            </a:pPr>
            <a:endParaRPr lang="en-US" sz="4000" b="1" dirty="0">
              <a:solidFill>
                <a:schemeClr val="bg1"/>
              </a:solidFill>
            </a:endParaRPr>
          </a:p>
          <a:p>
            <a:pPr marL="0" indent="0" algn="ctr">
              <a:buNone/>
            </a:pPr>
            <a:r>
              <a:rPr lang="en-US" sz="4000" b="1" dirty="0">
                <a:solidFill>
                  <a:schemeClr val="bg1"/>
                </a:solidFill>
              </a:rPr>
              <a:t>AI is not just replacing jobs, it is reshaping the workforce.</a:t>
            </a:r>
          </a:p>
        </p:txBody>
      </p:sp>
    </p:spTree>
    <p:extLst>
      <p:ext uri="{BB962C8B-B14F-4D97-AF65-F5344CB8AC3E}">
        <p14:creationId xmlns:p14="http://schemas.microsoft.com/office/powerpoint/2010/main" val="31603671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1767</TotalTime>
  <Words>181</Words>
  <Application>Microsoft Office PowerPoint</Application>
  <PresentationFormat>Widescreen</PresentationFormat>
  <Paragraphs>45</Paragraphs>
  <Slides>12</Slides>
  <Notes>0</Notes>
  <HiddenSlides>0</HiddenSlides>
  <MMClips>1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7" baseType="lpstr">
      <vt:lpstr>Arial</vt:lpstr>
      <vt:lpstr>Calibri</vt:lpstr>
      <vt:lpstr>Calibri Light</vt:lpstr>
      <vt:lpstr>Segoe UI</vt:lpstr>
      <vt:lpstr>Office Theme</vt:lpstr>
      <vt:lpstr>AI Job Automation Risk Analysis</vt:lpstr>
      <vt:lpstr>OBJECTIVE</vt:lpstr>
      <vt:lpstr>DATASET OVERVIEW</vt:lpstr>
      <vt:lpstr>EXCEL-BASED ANALYSIS</vt:lpstr>
      <vt:lpstr>EXCEL DASHBOARD</vt:lpstr>
      <vt:lpstr>TABLEAU-BASED ANALYSIS</vt:lpstr>
      <vt:lpstr>TABLEAU DASHBOARD</vt:lpstr>
      <vt:lpstr>POWER BI DASHBOARD</vt:lpstr>
      <vt:lpstr>PYTHON CODE</vt:lpstr>
      <vt:lpstr>PYTHON-BASED ANALYSIS</vt:lpstr>
      <vt:lpstr>PYTHON DASHBOARD</vt:lpstr>
      <vt:lpstr>FINAL INSIGHTS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Rableen Kapoor</dc:creator>
  <cp:lastModifiedBy>Rableen Kapoor</cp:lastModifiedBy>
  <cp:revision>35</cp:revision>
  <dcterms:created xsi:type="dcterms:W3CDTF">2026-05-02T14:01:36Z</dcterms:created>
  <dcterms:modified xsi:type="dcterms:W3CDTF">2026-05-03T19:28:39Z</dcterms:modified>
</cp:coreProperties>
</file>